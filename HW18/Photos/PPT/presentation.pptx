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4"/>
  </p:sldMasterIdLst>
  <p:notesMasterIdLst>
    <p:notesMasterId r:id="rId21"/>
  </p:notesMasterIdLst>
  <p:sldIdLst>
    <p:sldId id="281" r:id="rId5"/>
    <p:sldId id="282" r:id="rId6"/>
    <p:sldId id="276" r:id="rId7"/>
    <p:sldId id="280" r:id="rId8"/>
    <p:sldId id="279" r:id="rId9"/>
    <p:sldId id="278" r:id="rId10"/>
    <p:sldId id="277" r:id="rId11"/>
    <p:sldId id="275" r:id="rId12"/>
    <p:sldId id="273" r:id="rId13"/>
    <p:sldId id="267" r:id="rId14"/>
    <p:sldId id="269" r:id="rId15"/>
    <p:sldId id="274" r:id="rId16"/>
    <p:sldId id="268" r:id="rId17"/>
    <p:sldId id="270" r:id="rId18"/>
    <p:sldId id="271" r:id="rId19"/>
    <p:sldId id="272" r:id="rId20"/>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316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416" autoAdjust="0"/>
    <p:restoredTop sz="93803" autoAdjust="0"/>
  </p:normalViewPr>
  <p:slideViewPr>
    <p:cSldViewPr snapToGrid="0">
      <p:cViewPr>
        <p:scale>
          <a:sx n="100" d="100"/>
          <a:sy n="100" d="100"/>
        </p:scale>
        <p:origin x="328" y="504"/>
      </p:cViewPr>
      <p:guideLst/>
    </p:cSldViewPr>
  </p:slideViewPr>
  <p:outlineViewPr>
    <p:cViewPr>
      <p:scale>
        <a:sx n="33" d="100"/>
        <a:sy n="33" d="100"/>
      </p:scale>
      <p:origin x="0" y="-6916"/>
    </p:cViewPr>
  </p:outlin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doughnutChart>
        <c:varyColors val="1"/>
        <c:ser>
          <c:idx val="0"/>
          <c:order val="0"/>
          <c:tx>
            <c:strRef>
              <c:f>Sheet1!$B$1</c:f>
              <c:strCache>
                <c:ptCount val="1"/>
                <c:pt idx="0">
                  <c:v>Column1</c:v>
                </c:pt>
              </c:strCache>
            </c:strRef>
          </c:tx>
          <c:dPt>
            <c:idx val="0"/>
            <c:bubble3D val="0"/>
            <c:spPr>
              <a:gradFill>
                <a:gsLst>
                  <a:gs pos="100000">
                    <a:schemeClr val="accent2">
                      <a:shade val="53000"/>
                      <a:lumMod val="60000"/>
                      <a:lumOff val="40000"/>
                    </a:schemeClr>
                  </a:gs>
                  <a:gs pos="0">
                    <a:schemeClr val="accent2">
                      <a:shade val="53000"/>
                    </a:schemeClr>
                  </a:gs>
                </a:gsLst>
                <a:lin ang="5400000" scaled="0"/>
              </a:gradFill>
              <a:ln w="19050">
                <a:solidFill>
                  <a:schemeClr val="lt1"/>
                </a:solidFill>
              </a:ln>
              <a:effectLst/>
            </c:spPr>
            <c:extLst>
              <c:ext xmlns:c16="http://schemas.microsoft.com/office/drawing/2014/chart" uri="{C3380CC4-5D6E-409C-BE32-E72D297353CC}">
                <c16:uniqueId val="{00000001-8D8A-E242-A511-1DF2A5DED066}"/>
              </c:ext>
            </c:extLst>
          </c:dPt>
          <c:dPt>
            <c:idx val="1"/>
            <c:bubble3D val="0"/>
            <c:spPr>
              <a:gradFill>
                <a:gsLst>
                  <a:gs pos="100000">
                    <a:schemeClr val="accent2">
                      <a:shade val="76000"/>
                      <a:lumMod val="60000"/>
                      <a:lumOff val="40000"/>
                    </a:schemeClr>
                  </a:gs>
                  <a:gs pos="0">
                    <a:schemeClr val="accent2">
                      <a:shade val="76000"/>
                    </a:schemeClr>
                  </a:gs>
                </a:gsLst>
                <a:lin ang="5400000" scaled="0"/>
              </a:gradFill>
              <a:ln w="19050">
                <a:solidFill>
                  <a:schemeClr val="lt1"/>
                </a:solidFill>
              </a:ln>
              <a:effectLst/>
            </c:spPr>
            <c:extLst>
              <c:ext xmlns:c16="http://schemas.microsoft.com/office/drawing/2014/chart" uri="{C3380CC4-5D6E-409C-BE32-E72D297353CC}">
                <c16:uniqueId val="{00000003-8D8A-E242-A511-1DF2A5DED066}"/>
              </c:ext>
            </c:extLst>
          </c:dPt>
          <c:dPt>
            <c:idx val="2"/>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5-8D8A-E242-A511-1DF2A5DED066}"/>
              </c:ext>
            </c:extLst>
          </c:dPt>
          <c:dPt>
            <c:idx val="3"/>
            <c:bubble3D val="0"/>
            <c:spPr>
              <a:gradFill>
                <a:gsLst>
                  <a:gs pos="100000">
                    <a:schemeClr val="accent2">
                      <a:tint val="77000"/>
                      <a:lumMod val="60000"/>
                      <a:lumOff val="40000"/>
                    </a:schemeClr>
                  </a:gs>
                  <a:gs pos="0">
                    <a:schemeClr val="accent2">
                      <a:tint val="77000"/>
                    </a:schemeClr>
                  </a:gs>
                </a:gsLst>
                <a:lin ang="5400000" scaled="0"/>
              </a:gradFill>
              <a:ln w="19050">
                <a:solidFill>
                  <a:schemeClr val="lt1"/>
                </a:solidFill>
              </a:ln>
              <a:effectLst/>
            </c:spPr>
            <c:extLst>
              <c:ext xmlns:c16="http://schemas.microsoft.com/office/drawing/2014/chart" uri="{C3380CC4-5D6E-409C-BE32-E72D297353CC}">
                <c16:uniqueId val="{00000007-8D8A-E242-A511-1DF2A5DED066}"/>
              </c:ext>
            </c:extLst>
          </c:dPt>
          <c:dPt>
            <c:idx val="4"/>
            <c:bubble3D val="0"/>
            <c:spPr>
              <a:gradFill>
                <a:gsLst>
                  <a:gs pos="100000">
                    <a:schemeClr val="accent2">
                      <a:tint val="54000"/>
                      <a:lumMod val="60000"/>
                      <a:lumOff val="40000"/>
                    </a:schemeClr>
                  </a:gs>
                  <a:gs pos="0">
                    <a:schemeClr val="accent2">
                      <a:tint val="54000"/>
                    </a:schemeClr>
                  </a:gs>
                </a:gsLst>
                <a:lin ang="5400000" scaled="0"/>
              </a:gradFill>
              <a:ln w="19050">
                <a:solidFill>
                  <a:schemeClr val="lt1"/>
                </a:solidFill>
              </a:ln>
              <a:effectLst/>
            </c:spPr>
            <c:extLst>
              <c:ext xmlns:c16="http://schemas.microsoft.com/office/drawing/2014/chart" uri="{C3380CC4-5D6E-409C-BE32-E72D297353CC}">
                <c16:uniqueId val="{00000009-8D8A-E242-A511-1DF2A5DED066}"/>
              </c:ext>
            </c:extLst>
          </c:dPt>
          <c:cat>
            <c:strRef>
              <c:f>Sheet1!$A$2:$A$6</c:f>
              <c:strCache>
                <c:ptCount val="5"/>
                <c:pt idx="0">
                  <c:v>59% Hispanic/Latino</c:v>
                </c:pt>
                <c:pt idx="1">
                  <c:v>14% Asian/Filipino/Pacific Islander</c:v>
                </c:pt>
                <c:pt idx="2">
                  <c:v>13% Black/African American</c:v>
                </c:pt>
                <c:pt idx="3">
                  <c:v>9% White/Caucasian</c:v>
                </c:pt>
                <c:pt idx="4">
                  <c:v>5% Middle Eastern/Native American/Native Alaskan/Other</c:v>
                </c:pt>
              </c:strCache>
            </c:strRef>
          </c:cat>
          <c:val>
            <c:numRef>
              <c:f>Sheet1!$B$2:$B$6</c:f>
              <c:numCache>
                <c:formatCode>0%</c:formatCode>
                <c:ptCount val="5"/>
                <c:pt idx="0">
                  <c:v>0.59</c:v>
                </c:pt>
                <c:pt idx="1">
                  <c:v>0.14000000000000001</c:v>
                </c:pt>
                <c:pt idx="2">
                  <c:v>0.13</c:v>
                </c:pt>
                <c:pt idx="3">
                  <c:v>0.09</c:v>
                </c:pt>
                <c:pt idx="4">
                  <c:v>0.05</c:v>
                </c:pt>
              </c:numCache>
            </c:numRef>
          </c:val>
          <c:extLst>
            <c:ext xmlns:c16="http://schemas.microsoft.com/office/drawing/2014/chart" uri="{C3380CC4-5D6E-409C-BE32-E72D297353CC}">
              <c16:uniqueId val="{00000000-44D9-1B49-9BB0-6724997401E8}"/>
            </c:ext>
          </c:extLst>
        </c:ser>
        <c:dLbls>
          <c:showLegendKey val="0"/>
          <c:showVal val="0"/>
          <c:showCatName val="0"/>
          <c:showSerName val="0"/>
          <c:showPercent val="0"/>
          <c:showBubbleSize val="0"/>
          <c:showLeaderLines val="1"/>
        </c:dLbls>
        <c:firstSliceAng val="0"/>
        <c:holeSize val="70"/>
      </c:doughnutChart>
      <c:spPr>
        <a:noFill/>
        <a:ln>
          <a:noFill/>
        </a:ln>
        <a:effectLst/>
      </c:spPr>
    </c:plotArea>
    <c:legend>
      <c:legendPos val="r"/>
      <c:layout>
        <c:manualLayout>
          <c:xMode val="edge"/>
          <c:yMode val="edge"/>
          <c:x val="0.60583113387966325"/>
          <c:y val="8.785391092037946E-2"/>
          <c:w val="0.38098079768776122"/>
          <c:h val="0.82429184963884106"/>
        </c:manualLayout>
      </c:layout>
      <c:overlay val="0"/>
      <c:spPr>
        <a:solidFill>
          <a:schemeClr val="lt1">
            <a:alpha val="50000"/>
          </a:schemeClr>
        </a:solidFill>
        <a:ln>
          <a:noFill/>
        </a:ln>
        <a:effectLst/>
      </c:spPr>
      <c:txPr>
        <a:bodyPr rot="0" spcFirstLastPara="1" vertOverflow="ellipsis" vert="horz" wrap="square" anchor="t" anchorCtr="1"/>
        <a:lstStyle/>
        <a:p>
          <a:pPr hangingPunct="1">
            <a:lnSpc>
              <a:spcPct val="100000"/>
            </a:lnSpc>
            <a:defRPr sz="11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doughnutChart>
        <c:varyColors val="1"/>
        <c:ser>
          <c:idx val="0"/>
          <c:order val="0"/>
          <c:tx>
            <c:strRef>
              <c:f>Sheet1!$B$1</c:f>
              <c:strCache>
                <c:ptCount val="1"/>
                <c:pt idx="0">
                  <c:v>Column1</c:v>
                </c:pt>
              </c:strCache>
            </c:strRef>
          </c:tx>
          <c:dPt>
            <c:idx val="0"/>
            <c:bubble3D val="0"/>
            <c:spPr>
              <a:gradFill>
                <a:gsLst>
                  <a:gs pos="100000">
                    <a:schemeClr val="accent2">
                      <a:shade val="58000"/>
                      <a:lumMod val="60000"/>
                      <a:lumOff val="40000"/>
                    </a:schemeClr>
                  </a:gs>
                  <a:gs pos="0">
                    <a:schemeClr val="accent2">
                      <a:shade val="58000"/>
                    </a:schemeClr>
                  </a:gs>
                </a:gsLst>
                <a:lin ang="5400000" scaled="0"/>
              </a:gradFill>
              <a:ln w="19050">
                <a:solidFill>
                  <a:schemeClr val="lt1"/>
                </a:solidFill>
              </a:ln>
              <a:effectLst/>
            </c:spPr>
            <c:extLst>
              <c:ext xmlns:c16="http://schemas.microsoft.com/office/drawing/2014/chart" uri="{C3380CC4-5D6E-409C-BE32-E72D297353CC}">
                <c16:uniqueId val="{00000001-62E4-1244-BA9F-FCC52C0E5AE4}"/>
              </c:ext>
            </c:extLst>
          </c:dPt>
          <c:dPt>
            <c:idx val="1"/>
            <c:bubble3D val="0"/>
            <c:spPr>
              <a:gradFill>
                <a:gsLst>
                  <a:gs pos="100000">
                    <a:schemeClr val="accent2">
                      <a:shade val="86000"/>
                      <a:lumMod val="60000"/>
                      <a:lumOff val="40000"/>
                    </a:schemeClr>
                  </a:gs>
                  <a:gs pos="0">
                    <a:schemeClr val="accent2">
                      <a:shade val="86000"/>
                    </a:schemeClr>
                  </a:gs>
                </a:gsLst>
                <a:lin ang="5400000" scaled="0"/>
              </a:gradFill>
              <a:ln w="19050">
                <a:solidFill>
                  <a:schemeClr val="lt1"/>
                </a:solidFill>
              </a:ln>
              <a:effectLst/>
            </c:spPr>
            <c:extLst>
              <c:ext xmlns:c16="http://schemas.microsoft.com/office/drawing/2014/chart" uri="{C3380CC4-5D6E-409C-BE32-E72D297353CC}">
                <c16:uniqueId val="{00000003-62E4-1244-BA9F-FCC52C0E5AE4}"/>
              </c:ext>
            </c:extLst>
          </c:dPt>
          <c:dPt>
            <c:idx val="2"/>
            <c:bubble3D val="0"/>
            <c:spPr>
              <a:gradFill>
                <a:gsLst>
                  <a:gs pos="100000">
                    <a:schemeClr val="accent2">
                      <a:tint val="86000"/>
                      <a:lumMod val="60000"/>
                      <a:lumOff val="40000"/>
                    </a:schemeClr>
                  </a:gs>
                  <a:gs pos="0">
                    <a:schemeClr val="accent2">
                      <a:tint val="86000"/>
                    </a:schemeClr>
                  </a:gs>
                </a:gsLst>
                <a:lin ang="5400000" scaled="0"/>
              </a:gradFill>
              <a:ln w="19050">
                <a:solidFill>
                  <a:schemeClr val="lt1"/>
                </a:solidFill>
              </a:ln>
              <a:effectLst/>
            </c:spPr>
            <c:extLst>
              <c:ext xmlns:c16="http://schemas.microsoft.com/office/drawing/2014/chart" uri="{C3380CC4-5D6E-409C-BE32-E72D297353CC}">
                <c16:uniqueId val="{00000005-62E4-1244-BA9F-FCC52C0E5AE4}"/>
              </c:ext>
            </c:extLst>
          </c:dPt>
          <c:dPt>
            <c:idx val="3"/>
            <c:bubble3D val="0"/>
            <c:spPr>
              <a:gradFill>
                <a:gsLst>
                  <a:gs pos="100000">
                    <a:schemeClr val="accent2">
                      <a:tint val="58000"/>
                      <a:lumMod val="60000"/>
                      <a:lumOff val="40000"/>
                    </a:schemeClr>
                  </a:gs>
                  <a:gs pos="0">
                    <a:schemeClr val="accent2">
                      <a:tint val="58000"/>
                    </a:schemeClr>
                  </a:gs>
                </a:gsLst>
                <a:lin ang="5400000" scaled="0"/>
              </a:gradFill>
              <a:ln w="19050">
                <a:solidFill>
                  <a:schemeClr val="lt1"/>
                </a:solidFill>
              </a:ln>
              <a:effectLst/>
            </c:spPr>
            <c:extLst>
              <c:ext xmlns:c16="http://schemas.microsoft.com/office/drawing/2014/chart" uri="{C3380CC4-5D6E-409C-BE32-E72D297353CC}">
                <c16:uniqueId val="{00000007-62E4-1244-BA9F-FCC52C0E5AE4}"/>
              </c:ext>
            </c:extLst>
          </c:dPt>
          <c:cat>
            <c:strRef>
              <c:f>Sheet1!$A$2:$A$5</c:f>
              <c:strCache>
                <c:ptCount val="4"/>
                <c:pt idx="0">
                  <c:v>36% East Bay</c:v>
                </c:pt>
                <c:pt idx="1">
                  <c:v>27% San Francisco</c:v>
                </c:pt>
                <c:pt idx="2">
                  <c:v>22% South Bay</c:v>
                </c:pt>
                <c:pt idx="3">
                  <c:v>15% North Bay</c:v>
                </c:pt>
              </c:strCache>
            </c:strRef>
          </c:cat>
          <c:val>
            <c:numRef>
              <c:f>Sheet1!$B$2:$B$5</c:f>
              <c:numCache>
                <c:formatCode>0%</c:formatCode>
                <c:ptCount val="4"/>
                <c:pt idx="0">
                  <c:v>0.36</c:v>
                </c:pt>
                <c:pt idx="1">
                  <c:v>0.27</c:v>
                </c:pt>
                <c:pt idx="2">
                  <c:v>0.22</c:v>
                </c:pt>
                <c:pt idx="3">
                  <c:v>0.15</c:v>
                </c:pt>
              </c:numCache>
            </c:numRef>
          </c:val>
          <c:extLst>
            <c:ext xmlns:c16="http://schemas.microsoft.com/office/drawing/2014/chart" uri="{C3380CC4-5D6E-409C-BE32-E72D297353CC}">
              <c16:uniqueId val="{00000000-44D9-1B49-9BB0-6724997401E8}"/>
            </c:ext>
          </c:extLst>
        </c:ser>
        <c:dLbls>
          <c:showLegendKey val="0"/>
          <c:showVal val="0"/>
          <c:showCatName val="0"/>
          <c:showSerName val="0"/>
          <c:showPercent val="0"/>
          <c:showBubbleSize val="0"/>
          <c:showLeaderLines val="1"/>
        </c:dLbls>
        <c:firstSliceAng val="0"/>
        <c:holeSize val="70"/>
      </c:doughnutChart>
      <c:spPr>
        <a:noFill/>
        <a:ln>
          <a:noFill/>
        </a:ln>
        <a:effectLst/>
      </c:spPr>
    </c:plotArea>
    <c:legend>
      <c:legendPos val="r"/>
      <c:layout>
        <c:manualLayout>
          <c:xMode val="edge"/>
          <c:yMode val="edge"/>
          <c:x val="0.60583113387966325"/>
          <c:y val="8.785391092037946E-2"/>
          <c:w val="0.38098079768776122"/>
          <c:h val="0.82429184963884106"/>
        </c:manualLayout>
      </c:layout>
      <c:overlay val="0"/>
      <c:spPr>
        <a:solidFill>
          <a:schemeClr val="lt1">
            <a:alpha val="50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70248" cy="481851"/>
          </a:xfrm>
          <a:prstGeom prst="rect">
            <a:avLst/>
          </a:prstGeom>
        </p:spPr>
        <p:txBody>
          <a:bodyPr vert="horz" lIns="94072" tIns="47035" rIns="94072" bIns="47035" rtlCol="0"/>
          <a:lstStyle>
            <a:lvl1pPr algn="l">
              <a:defRPr sz="1200"/>
            </a:lvl1pPr>
          </a:lstStyle>
          <a:p>
            <a:endParaRPr lang="en-US" dirty="0"/>
          </a:p>
        </p:txBody>
      </p:sp>
      <p:sp>
        <p:nvSpPr>
          <p:cNvPr id="3" name="Date Placeholder 2"/>
          <p:cNvSpPr>
            <a:spLocks noGrp="1"/>
          </p:cNvSpPr>
          <p:nvPr>
            <p:ph type="dt" idx="1"/>
          </p:nvPr>
        </p:nvSpPr>
        <p:spPr>
          <a:xfrm>
            <a:off x="4143312" y="1"/>
            <a:ext cx="3170248" cy="481851"/>
          </a:xfrm>
          <a:prstGeom prst="rect">
            <a:avLst/>
          </a:prstGeom>
        </p:spPr>
        <p:txBody>
          <a:bodyPr vert="horz" lIns="94072" tIns="47035" rIns="94072" bIns="47035" rtlCol="0"/>
          <a:lstStyle>
            <a:lvl1pPr algn="r">
              <a:defRPr sz="1200"/>
            </a:lvl1pPr>
          </a:lstStyle>
          <a:p>
            <a:fld id="{766424AB-DFF1-429C-A3FD-A174A2B04122}" type="datetimeFigureOut">
              <a:rPr lang="en-US" smtClean="0"/>
              <a:t>7/6/21</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4072" tIns="47035" rIns="94072" bIns="47035" rtlCol="0" anchor="ctr"/>
          <a:lstStyle/>
          <a:p>
            <a:endParaRPr lang="en-US" dirty="0"/>
          </a:p>
        </p:txBody>
      </p:sp>
      <p:sp>
        <p:nvSpPr>
          <p:cNvPr id="5" name="Notes Placeholder 4"/>
          <p:cNvSpPr>
            <a:spLocks noGrp="1"/>
          </p:cNvSpPr>
          <p:nvPr>
            <p:ph type="body" sz="quarter" idx="3"/>
          </p:nvPr>
        </p:nvSpPr>
        <p:spPr>
          <a:xfrm>
            <a:off x="731850" y="4619908"/>
            <a:ext cx="5851504" cy="3781551"/>
          </a:xfrm>
          <a:prstGeom prst="rect">
            <a:avLst/>
          </a:prstGeom>
        </p:spPr>
        <p:txBody>
          <a:bodyPr vert="horz" lIns="94072" tIns="47035" rIns="94072" bIns="4703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349"/>
            <a:ext cx="3170248" cy="481851"/>
          </a:xfrm>
          <a:prstGeom prst="rect">
            <a:avLst/>
          </a:prstGeom>
        </p:spPr>
        <p:txBody>
          <a:bodyPr vert="horz" lIns="94072" tIns="47035" rIns="94072" bIns="47035"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312" y="9119349"/>
            <a:ext cx="3170248" cy="481851"/>
          </a:xfrm>
          <a:prstGeom prst="rect">
            <a:avLst/>
          </a:prstGeom>
        </p:spPr>
        <p:txBody>
          <a:bodyPr vert="horz" lIns="94072" tIns="47035" rIns="94072" bIns="47035" rtlCol="0" anchor="b"/>
          <a:lstStyle>
            <a:lvl1pPr algn="r">
              <a:defRPr sz="1200"/>
            </a:lvl1pPr>
          </a:lstStyle>
          <a:p>
            <a:fld id="{2CF8E265-080A-4899-8918-F77C2AAA6FC6}" type="slidenum">
              <a:rPr lang="en-US" smtClean="0"/>
              <a:t>‹#›</a:t>
            </a:fld>
            <a:endParaRPr lang="en-US" dirty="0"/>
          </a:p>
        </p:txBody>
      </p:sp>
    </p:spTree>
    <p:extLst>
      <p:ext uri="{BB962C8B-B14F-4D97-AF65-F5344CB8AC3E}">
        <p14:creationId xmlns:p14="http://schemas.microsoft.com/office/powerpoint/2010/main" val="315789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F8E265-080A-4899-8918-F77C2AAA6FC6}" type="slidenum">
              <a:rPr lang="en-US" smtClean="0"/>
              <a:t>13</a:t>
            </a:fld>
            <a:endParaRPr lang="en-US" dirty="0"/>
          </a:p>
        </p:txBody>
      </p:sp>
    </p:spTree>
    <p:extLst>
      <p:ext uri="{BB962C8B-B14F-4D97-AF65-F5344CB8AC3E}">
        <p14:creationId xmlns:p14="http://schemas.microsoft.com/office/powerpoint/2010/main" val="42968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1C26999-4BB2-4341-97B1-A54130CF8D64}"/>
              </a:ext>
            </a:extLst>
          </p:cNvPr>
          <p:cNvSpPr/>
          <p:nvPr userDrawn="1"/>
        </p:nvSpPr>
        <p:spPr>
          <a:xfrm>
            <a:off x="-62819" y="6402767"/>
            <a:ext cx="12270059" cy="481624"/>
          </a:xfrm>
          <a:prstGeom prst="rect">
            <a:avLst/>
          </a:prstGeom>
          <a:solidFill>
            <a:srgbClr val="2531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a:xfrm>
            <a:off x="1097279" y="6446838"/>
            <a:ext cx="9698100" cy="365125"/>
          </a:xfrm>
        </p:spPr>
        <p:txBody>
          <a:bodyPr/>
          <a:lstStyle>
            <a:lvl1pPr algn="ctr">
              <a:defRPr/>
            </a:lvl1p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8250048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F40E660E-BEA4-49BA-832F-60720695FBFC}" type="datetime1">
              <a:rPr lang="en-US" smtClean="0"/>
              <a:t>7/6/21</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3960405"/>
      </p:ext>
    </p:extLst>
  </p:cSld>
  <p:clrMap bg1="lt1" tx1="dk1" bg2="lt2" tx2="dk2" accent1="accent1" accent2="accent2" accent3="accent3" accent4="accent4" accent5="accent5" accent6="accent6" hlink="hlink" folHlink="folHlink"/>
  <p:sldLayoutIdLst>
    <p:sldLayoutId id="2147483746" r:id="rId1"/>
  </p:sldLayoutIdLst>
  <p:hf hdr="0" dt="0"/>
  <p:txStyles>
    <p:title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 Id="rId4" Type="http://schemas.openxmlformats.org/officeDocument/2006/relationships/image" Target="../media/image11.tiff"/></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youtu.be/T4ZyX4Kufpk" TargetMode="External"/><Relationship Id="rId2" Type="http://schemas.openxmlformats.org/officeDocument/2006/relationships/image" Target="../media/image16.png"/><Relationship Id="rId1" Type="http://schemas.openxmlformats.org/officeDocument/2006/relationships/slideLayout" Target="../slideLayouts/slideLayout1.xml"/><Relationship Id="rId5" Type="http://schemas.openxmlformats.org/officeDocument/2006/relationships/image" Target="../media/image17.emf"/><Relationship Id="rId4" Type="http://schemas.openxmlformats.org/officeDocument/2006/relationships/hyperlink" Target="http://www.basicfund.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20E1FAB-B9E7-2C47-BF21-8933A5E319BF}"/>
              </a:ext>
            </a:extLst>
          </p:cNvPr>
          <p:cNvSpPr>
            <a:spLocks noGrp="1"/>
          </p:cNvSpPr>
          <p:nvPr>
            <p:ph type="ftr" sz="quarter" idx="11"/>
          </p:nvPr>
        </p:nvSpPr>
        <p:spPr>
          <a:xfrm>
            <a:off x="1097278" y="6446838"/>
            <a:ext cx="9930113" cy="365125"/>
          </a:xfrm>
        </p:spPr>
        <p:txBody>
          <a:bodyPr/>
          <a:lstStyle/>
          <a:p>
            <a:r>
              <a:rPr lang="en-US" dirty="0"/>
              <a:t>The BASIC Fund is a privately funded 501(c)3 organization based in the San Francisco Bay Area.   </a:t>
            </a:r>
          </a:p>
        </p:txBody>
      </p:sp>
      <p:sp>
        <p:nvSpPr>
          <p:cNvPr id="10" name="Rectangle 9">
            <a:extLst>
              <a:ext uri="{FF2B5EF4-FFF2-40B4-BE49-F238E27FC236}">
                <a16:creationId xmlns:a16="http://schemas.microsoft.com/office/drawing/2014/main" id="{86F1BB4B-8BC3-EC43-83D0-DA2DC4D6BB34}"/>
              </a:ext>
            </a:extLst>
          </p:cNvPr>
          <p:cNvSpPr/>
          <p:nvPr/>
        </p:nvSpPr>
        <p:spPr>
          <a:xfrm>
            <a:off x="3048000" y="4452281"/>
            <a:ext cx="5883965" cy="1477328"/>
          </a:xfrm>
          <a:prstGeom prst="rect">
            <a:avLst/>
          </a:prstGeom>
        </p:spPr>
        <p:txBody>
          <a:bodyPr wrap="square">
            <a:spAutoFit/>
          </a:bodyPr>
          <a:lstStyle/>
          <a:p>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On behalf of the BASIC Fund, our Board of Directors, and </a:t>
            </a:r>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the 3,375 bay area children </a:t>
            </a:r>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who are currently receiving our scholarships for the 2020-21 school year, we are proud to share some information about our organization. </a:t>
            </a:r>
          </a:p>
        </p:txBody>
      </p:sp>
      <p:cxnSp>
        <p:nvCxnSpPr>
          <p:cNvPr id="12" name="Straight Connector 11">
            <a:extLst>
              <a:ext uri="{FF2B5EF4-FFF2-40B4-BE49-F238E27FC236}">
                <a16:creationId xmlns:a16="http://schemas.microsoft.com/office/drawing/2014/main" id="{6DDD3A60-9B9F-1243-ADA7-123124F8D705}"/>
              </a:ext>
            </a:extLst>
          </p:cNvPr>
          <p:cNvCxnSpPr/>
          <p:nvPr/>
        </p:nvCxnSpPr>
        <p:spPr>
          <a:xfrm>
            <a:off x="3048000" y="4186814"/>
            <a:ext cx="5987716" cy="0"/>
          </a:xfrm>
          <a:prstGeom prst="line">
            <a:avLst/>
          </a:prstGeom>
          <a:ln>
            <a:solidFill>
              <a:srgbClr val="25316F"/>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C41205E-5BB0-2642-8A12-D1DF72E9D80B}"/>
              </a:ext>
            </a:extLst>
          </p:cNvPr>
          <p:cNvSpPr txBox="1"/>
          <p:nvPr/>
        </p:nvSpPr>
        <p:spPr>
          <a:xfrm>
            <a:off x="5847347" y="2310063"/>
            <a:ext cx="184731" cy="369332"/>
          </a:xfrm>
          <a:prstGeom prst="rect">
            <a:avLst/>
          </a:prstGeom>
          <a:noFill/>
        </p:spPr>
        <p:txBody>
          <a:bodyPr wrap="none" rtlCol="0">
            <a:spAutoFit/>
          </a:bodyPr>
          <a:lstStyle/>
          <a:p>
            <a:endParaRPr lang="en-US" dirty="0"/>
          </a:p>
        </p:txBody>
      </p:sp>
      <p:pic>
        <p:nvPicPr>
          <p:cNvPr id="3" name="Picture 2">
            <a:extLst>
              <a:ext uri="{FF2B5EF4-FFF2-40B4-BE49-F238E27FC236}">
                <a16:creationId xmlns:a16="http://schemas.microsoft.com/office/drawing/2014/main" id="{72185A7A-5075-4F48-9C37-92A5D417639E}"/>
              </a:ext>
            </a:extLst>
          </p:cNvPr>
          <p:cNvPicPr>
            <a:picLocks noChangeAspect="1"/>
          </p:cNvPicPr>
          <p:nvPr/>
        </p:nvPicPr>
        <p:blipFill>
          <a:blip r:embed="rId2"/>
          <a:stretch>
            <a:fillRect/>
          </a:stretch>
        </p:blipFill>
        <p:spPr>
          <a:xfrm>
            <a:off x="3456332" y="916277"/>
            <a:ext cx="5067300" cy="2933700"/>
          </a:xfrm>
          <a:prstGeom prst="rect">
            <a:avLst/>
          </a:prstGeom>
        </p:spPr>
      </p:pic>
    </p:spTree>
    <p:extLst>
      <p:ext uri="{BB962C8B-B14F-4D97-AF65-F5344CB8AC3E}">
        <p14:creationId xmlns:p14="http://schemas.microsoft.com/office/powerpoint/2010/main" val="4060227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20E1FAB-B9E7-2C47-BF21-8933A5E319BF}"/>
              </a:ext>
            </a:extLst>
          </p:cNvPr>
          <p:cNvSpPr>
            <a:spLocks noGrp="1"/>
          </p:cNvSpPr>
          <p:nvPr>
            <p:ph type="ftr" sz="quarter" idx="11"/>
          </p:nvPr>
        </p:nvSpPr>
        <p:spPr>
          <a:xfrm>
            <a:off x="1097278" y="6446838"/>
            <a:ext cx="9930113" cy="365125"/>
          </a:xfrm>
        </p:spPr>
        <p:txBody>
          <a:bodyPr/>
          <a:lstStyle/>
          <a:p>
            <a:r>
              <a:rPr lang="en-US" dirty="0"/>
              <a:t>The BASIC Fund is a privately funded 501(c)3 organization based in the San Francisco Bay Area.   </a:t>
            </a:r>
          </a:p>
        </p:txBody>
      </p:sp>
      <p:sp>
        <p:nvSpPr>
          <p:cNvPr id="10" name="Rectangle 9">
            <a:extLst>
              <a:ext uri="{FF2B5EF4-FFF2-40B4-BE49-F238E27FC236}">
                <a16:creationId xmlns:a16="http://schemas.microsoft.com/office/drawing/2014/main" id="{86F1BB4B-8BC3-EC43-83D0-DA2DC4D6BB34}"/>
              </a:ext>
            </a:extLst>
          </p:cNvPr>
          <p:cNvSpPr/>
          <p:nvPr/>
        </p:nvSpPr>
        <p:spPr>
          <a:xfrm>
            <a:off x="3048000" y="4452281"/>
            <a:ext cx="5883965" cy="1477328"/>
          </a:xfrm>
          <a:prstGeom prst="rect">
            <a:avLst/>
          </a:prstGeom>
        </p:spPr>
        <p:txBody>
          <a:bodyPr wrap="square">
            <a:spAutoFit/>
          </a:bodyPr>
          <a:lstStyle/>
          <a:p>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On behalf of the BASIC Fund, our Board of Directors, and </a:t>
            </a:r>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the 3,375 bay area children </a:t>
            </a:r>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who are currently receiving our scholarships for the 2020-21 school year, we are proud to share some information about our organization. </a:t>
            </a:r>
          </a:p>
        </p:txBody>
      </p:sp>
      <p:cxnSp>
        <p:nvCxnSpPr>
          <p:cNvPr id="12" name="Straight Connector 11">
            <a:extLst>
              <a:ext uri="{FF2B5EF4-FFF2-40B4-BE49-F238E27FC236}">
                <a16:creationId xmlns:a16="http://schemas.microsoft.com/office/drawing/2014/main" id="{6DDD3A60-9B9F-1243-ADA7-123124F8D705}"/>
              </a:ext>
            </a:extLst>
          </p:cNvPr>
          <p:cNvCxnSpPr/>
          <p:nvPr/>
        </p:nvCxnSpPr>
        <p:spPr>
          <a:xfrm>
            <a:off x="3048000" y="4186814"/>
            <a:ext cx="5987716" cy="0"/>
          </a:xfrm>
          <a:prstGeom prst="line">
            <a:avLst/>
          </a:prstGeom>
          <a:ln>
            <a:solidFill>
              <a:srgbClr val="25316F"/>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C41205E-5BB0-2642-8A12-D1DF72E9D80B}"/>
              </a:ext>
            </a:extLst>
          </p:cNvPr>
          <p:cNvSpPr txBox="1"/>
          <p:nvPr/>
        </p:nvSpPr>
        <p:spPr>
          <a:xfrm>
            <a:off x="5847347" y="2310063"/>
            <a:ext cx="184731" cy="369332"/>
          </a:xfrm>
          <a:prstGeom prst="rect">
            <a:avLst/>
          </a:prstGeom>
          <a:noFill/>
        </p:spPr>
        <p:txBody>
          <a:bodyPr wrap="none" rtlCol="0">
            <a:spAutoFit/>
          </a:bodyPr>
          <a:lstStyle/>
          <a:p>
            <a:endParaRPr lang="en-US" dirty="0"/>
          </a:p>
        </p:txBody>
      </p:sp>
      <p:pic>
        <p:nvPicPr>
          <p:cNvPr id="2" name="Picture 1">
            <a:extLst>
              <a:ext uri="{FF2B5EF4-FFF2-40B4-BE49-F238E27FC236}">
                <a16:creationId xmlns:a16="http://schemas.microsoft.com/office/drawing/2014/main" id="{323C2006-7B90-BC47-90AD-E0A268D96B01}"/>
              </a:ext>
            </a:extLst>
          </p:cNvPr>
          <p:cNvPicPr>
            <a:picLocks noChangeAspect="1"/>
          </p:cNvPicPr>
          <p:nvPr/>
        </p:nvPicPr>
        <p:blipFill>
          <a:blip r:embed="rId2"/>
          <a:stretch>
            <a:fillRect/>
          </a:stretch>
        </p:blipFill>
        <p:spPr>
          <a:xfrm>
            <a:off x="3456332" y="861012"/>
            <a:ext cx="5067300" cy="2971800"/>
          </a:xfrm>
          <a:prstGeom prst="rect">
            <a:avLst/>
          </a:prstGeom>
        </p:spPr>
      </p:pic>
    </p:spTree>
    <p:extLst>
      <p:ext uri="{BB962C8B-B14F-4D97-AF65-F5344CB8AC3E}">
        <p14:creationId xmlns:p14="http://schemas.microsoft.com/office/powerpoint/2010/main" val="1627970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20E1FAB-B9E7-2C47-BF21-8933A5E319BF}"/>
              </a:ext>
            </a:extLst>
          </p:cNvPr>
          <p:cNvSpPr>
            <a:spLocks noGrp="1"/>
          </p:cNvSpPr>
          <p:nvPr>
            <p:ph type="ftr" sz="quarter" idx="11"/>
          </p:nvPr>
        </p:nvSpPr>
        <p:spPr>
          <a:xfrm>
            <a:off x="1097278" y="6446838"/>
            <a:ext cx="9930113" cy="365125"/>
          </a:xfrm>
        </p:spPr>
        <p:txBody>
          <a:bodyPr/>
          <a:lstStyle/>
          <a:p>
            <a:r>
              <a:rPr lang="en-US" dirty="0"/>
              <a:t>The BASIC Fund is a privately funded 501(c)3 organization based in the San Francisco Bay Area.   </a:t>
            </a:r>
          </a:p>
        </p:txBody>
      </p:sp>
      <p:sp>
        <p:nvSpPr>
          <p:cNvPr id="10" name="Rectangle 9">
            <a:extLst>
              <a:ext uri="{FF2B5EF4-FFF2-40B4-BE49-F238E27FC236}">
                <a16:creationId xmlns:a16="http://schemas.microsoft.com/office/drawing/2014/main" id="{86F1BB4B-8BC3-EC43-83D0-DA2DC4D6BB34}"/>
              </a:ext>
            </a:extLst>
          </p:cNvPr>
          <p:cNvSpPr/>
          <p:nvPr/>
        </p:nvSpPr>
        <p:spPr>
          <a:xfrm>
            <a:off x="3048000" y="4452281"/>
            <a:ext cx="5883965" cy="1477328"/>
          </a:xfrm>
          <a:prstGeom prst="rect">
            <a:avLst/>
          </a:prstGeom>
        </p:spPr>
        <p:txBody>
          <a:bodyPr wrap="square">
            <a:spAutoFit/>
          </a:bodyPr>
          <a:lstStyle/>
          <a:p>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On behalf of the BASIC Fund, our Board of Directors, and </a:t>
            </a:r>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the 3,375 bay area children </a:t>
            </a:r>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who are currently receiving our scholarships for the 2020-21 school year, we are proud to share some information about our organization. </a:t>
            </a:r>
          </a:p>
        </p:txBody>
      </p:sp>
      <p:cxnSp>
        <p:nvCxnSpPr>
          <p:cNvPr id="12" name="Straight Connector 11">
            <a:extLst>
              <a:ext uri="{FF2B5EF4-FFF2-40B4-BE49-F238E27FC236}">
                <a16:creationId xmlns:a16="http://schemas.microsoft.com/office/drawing/2014/main" id="{6DDD3A60-9B9F-1243-ADA7-123124F8D705}"/>
              </a:ext>
            </a:extLst>
          </p:cNvPr>
          <p:cNvCxnSpPr/>
          <p:nvPr/>
        </p:nvCxnSpPr>
        <p:spPr>
          <a:xfrm>
            <a:off x="3048000" y="4186814"/>
            <a:ext cx="5987716" cy="0"/>
          </a:xfrm>
          <a:prstGeom prst="line">
            <a:avLst/>
          </a:prstGeom>
          <a:ln>
            <a:solidFill>
              <a:srgbClr val="25316F"/>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C41205E-5BB0-2642-8A12-D1DF72E9D80B}"/>
              </a:ext>
            </a:extLst>
          </p:cNvPr>
          <p:cNvSpPr txBox="1"/>
          <p:nvPr/>
        </p:nvSpPr>
        <p:spPr>
          <a:xfrm>
            <a:off x="5847347" y="2310063"/>
            <a:ext cx="184731" cy="369332"/>
          </a:xfrm>
          <a:prstGeom prst="rect">
            <a:avLst/>
          </a:prstGeom>
          <a:noFill/>
        </p:spPr>
        <p:txBody>
          <a:bodyPr wrap="none" rtlCol="0">
            <a:spAutoFit/>
          </a:bodyPr>
          <a:lstStyle/>
          <a:p>
            <a:endParaRPr lang="en-US" dirty="0"/>
          </a:p>
        </p:txBody>
      </p:sp>
      <p:pic>
        <p:nvPicPr>
          <p:cNvPr id="2" name="Picture 1">
            <a:extLst>
              <a:ext uri="{FF2B5EF4-FFF2-40B4-BE49-F238E27FC236}">
                <a16:creationId xmlns:a16="http://schemas.microsoft.com/office/drawing/2014/main" id="{07662261-0EDB-5B4B-84A1-55F72BF54368}"/>
              </a:ext>
            </a:extLst>
          </p:cNvPr>
          <p:cNvPicPr>
            <a:picLocks noChangeAspect="1"/>
          </p:cNvPicPr>
          <p:nvPr/>
        </p:nvPicPr>
        <p:blipFill>
          <a:blip r:embed="rId2"/>
          <a:stretch>
            <a:fillRect/>
          </a:stretch>
        </p:blipFill>
        <p:spPr>
          <a:xfrm>
            <a:off x="3456332" y="719427"/>
            <a:ext cx="5067300" cy="3111500"/>
          </a:xfrm>
          <a:prstGeom prst="rect">
            <a:avLst/>
          </a:prstGeom>
        </p:spPr>
      </p:pic>
    </p:spTree>
    <p:extLst>
      <p:ext uri="{BB962C8B-B14F-4D97-AF65-F5344CB8AC3E}">
        <p14:creationId xmlns:p14="http://schemas.microsoft.com/office/powerpoint/2010/main" val="4081294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20E1FAB-B9E7-2C47-BF21-8933A5E319BF}"/>
              </a:ext>
            </a:extLst>
          </p:cNvPr>
          <p:cNvSpPr>
            <a:spLocks noGrp="1"/>
          </p:cNvSpPr>
          <p:nvPr>
            <p:ph type="ftr" sz="quarter" idx="11"/>
          </p:nvPr>
        </p:nvSpPr>
        <p:spPr>
          <a:xfrm>
            <a:off x="1097278" y="6446838"/>
            <a:ext cx="9930113" cy="365125"/>
          </a:xfrm>
        </p:spPr>
        <p:txBody>
          <a:bodyPr/>
          <a:lstStyle/>
          <a:p>
            <a:r>
              <a:rPr lang="en-US" dirty="0"/>
              <a:t>The BASIC Fund is a privately funded 501(c)3 organization based in the San Francisco Bay Area.   </a:t>
            </a:r>
          </a:p>
        </p:txBody>
      </p:sp>
      <p:sp>
        <p:nvSpPr>
          <p:cNvPr id="10" name="Rectangle 9">
            <a:extLst>
              <a:ext uri="{FF2B5EF4-FFF2-40B4-BE49-F238E27FC236}">
                <a16:creationId xmlns:a16="http://schemas.microsoft.com/office/drawing/2014/main" id="{86F1BB4B-8BC3-EC43-83D0-DA2DC4D6BB34}"/>
              </a:ext>
            </a:extLst>
          </p:cNvPr>
          <p:cNvSpPr/>
          <p:nvPr/>
        </p:nvSpPr>
        <p:spPr>
          <a:xfrm>
            <a:off x="3048000" y="4452281"/>
            <a:ext cx="5883965" cy="1477328"/>
          </a:xfrm>
          <a:prstGeom prst="rect">
            <a:avLst/>
          </a:prstGeom>
        </p:spPr>
        <p:txBody>
          <a:bodyPr wrap="square">
            <a:spAutoFit/>
          </a:bodyPr>
          <a:lstStyle/>
          <a:p>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On behalf of the BASIC Fund, our Board of Directors, and </a:t>
            </a:r>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the 3,375 bay area children </a:t>
            </a:r>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who are currently receiving our scholarships for the 2020-21 school year, we are proud to share some information about our organization. </a:t>
            </a:r>
          </a:p>
        </p:txBody>
      </p:sp>
      <p:cxnSp>
        <p:nvCxnSpPr>
          <p:cNvPr id="12" name="Straight Connector 11">
            <a:extLst>
              <a:ext uri="{FF2B5EF4-FFF2-40B4-BE49-F238E27FC236}">
                <a16:creationId xmlns:a16="http://schemas.microsoft.com/office/drawing/2014/main" id="{6DDD3A60-9B9F-1243-ADA7-123124F8D705}"/>
              </a:ext>
            </a:extLst>
          </p:cNvPr>
          <p:cNvCxnSpPr/>
          <p:nvPr/>
        </p:nvCxnSpPr>
        <p:spPr>
          <a:xfrm>
            <a:off x="3048000" y="4186814"/>
            <a:ext cx="5987716" cy="0"/>
          </a:xfrm>
          <a:prstGeom prst="line">
            <a:avLst/>
          </a:prstGeom>
          <a:ln>
            <a:solidFill>
              <a:srgbClr val="25316F"/>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C41205E-5BB0-2642-8A12-D1DF72E9D80B}"/>
              </a:ext>
            </a:extLst>
          </p:cNvPr>
          <p:cNvSpPr txBox="1"/>
          <p:nvPr/>
        </p:nvSpPr>
        <p:spPr>
          <a:xfrm>
            <a:off x="5847347" y="2310063"/>
            <a:ext cx="184731" cy="369332"/>
          </a:xfrm>
          <a:prstGeom prst="rect">
            <a:avLst/>
          </a:prstGeom>
          <a:noFill/>
        </p:spPr>
        <p:txBody>
          <a:bodyPr wrap="none" rtlCol="0">
            <a:spAutoFit/>
          </a:bodyPr>
          <a:lstStyle/>
          <a:p>
            <a:endParaRPr lang="en-US" dirty="0"/>
          </a:p>
        </p:txBody>
      </p:sp>
      <p:pic>
        <p:nvPicPr>
          <p:cNvPr id="2" name="Picture 1">
            <a:extLst>
              <a:ext uri="{FF2B5EF4-FFF2-40B4-BE49-F238E27FC236}">
                <a16:creationId xmlns:a16="http://schemas.microsoft.com/office/drawing/2014/main" id="{15E8254C-7331-684C-81F6-1F808C193428}"/>
              </a:ext>
            </a:extLst>
          </p:cNvPr>
          <p:cNvPicPr>
            <a:picLocks noChangeAspect="1"/>
          </p:cNvPicPr>
          <p:nvPr/>
        </p:nvPicPr>
        <p:blipFill>
          <a:blip r:embed="rId2"/>
          <a:stretch>
            <a:fillRect/>
          </a:stretch>
        </p:blipFill>
        <p:spPr>
          <a:xfrm>
            <a:off x="3456332" y="916277"/>
            <a:ext cx="5067300" cy="2933700"/>
          </a:xfrm>
          <a:prstGeom prst="rect">
            <a:avLst/>
          </a:prstGeom>
        </p:spPr>
      </p:pic>
    </p:spTree>
    <p:extLst>
      <p:ext uri="{BB962C8B-B14F-4D97-AF65-F5344CB8AC3E}">
        <p14:creationId xmlns:p14="http://schemas.microsoft.com/office/powerpoint/2010/main" val="863871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20E1FAB-B9E7-2C47-BF21-8933A5E319BF}"/>
              </a:ext>
            </a:extLst>
          </p:cNvPr>
          <p:cNvSpPr>
            <a:spLocks noGrp="1"/>
          </p:cNvSpPr>
          <p:nvPr>
            <p:ph type="ftr" sz="quarter" idx="11"/>
          </p:nvPr>
        </p:nvSpPr>
        <p:spPr>
          <a:xfrm>
            <a:off x="1097278" y="6446838"/>
            <a:ext cx="9930113" cy="365125"/>
          </a:xfrm>
        </p:spPr>
        <p:txBody>
          <a:bodyPr/>
          <a:lstStyle/>
          <a:p>
            <a:r>
              <a:rPr lang="en-US" dirty="0"/>
              <a:t>The BASIC Fund is a privately funded 501(c)3 organization based in the San Francisco Bay Area.   </a:t>
            </a:r>
          </a:p>
        </p:txBody>
      </p:sp>
      <p:sp>
        <p:nvSpPr>
          <p:cNvPr id="10" name="Rectangle 9">
            <a:extLst>
              <a:ext uri="{FF2B5EF4-FFF2-40B4-BE49-F238E27FC236}">
                <a16:creationId xmlns:a16="http://schemas.microsoft.com/office/drawing/2014/main" id="{86F1BB4B-8BC3-EC43-83D0-DA2DC4D6BB34}"/>
              </a:ext>
            </a:extLst>
          </p:cNvPr>
          <p:cNvSpPr/>
          <p:nvPr/>
        </p:nvSpPr>
        <p:spPr>
          <a:xfrm>
            <a:off x="3048000" y="4452281"/>
            <a:ext cx="5883965" cy="1477328"/>
          </a:xfrm>
          <a:prstGeom prst="rect">
            <a:avLst/>
          </a:prstGeom>
        </p:spPr>
        <p:txBody>
          <a:bodyPr wrap="square">
            <a:spAutoFit/>
          </a:bodyPr>
          <a:lstStyle/>
          <a:p>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On behalf of the BASIC Fund, our Board of Directors, and </a:t>
            </a:r>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the 3,375 bay area children </a:t>
            </a:r>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who are currently receiving our scholarships for the 2020-21 school year, we are proud to share some information about our organization. </a:t>
            </a:r>
          </a:p>
        </p:txBody>
      </p:sp>
      <p:cxnSp>
        <p:nvCxnSpPr>
          <p:cNvPr id="12" name="Straight Connector 11">
            <a:extLst>
              <a:ext uri="{FF2B5EF4-FFF2-40B4-BE49-F238E27FC236}">
                <a16:creationId xmlns:a16="http://schemas.microsoft.com/office/drawing/2014/main" id="{6DDD3A60-9B9F-1243-ADA7-123124F8D705}"/>
              </a:ext>
            </a:extLst>
          </p:cNvPr>
          <p:cNvCxnSpPr/>
          <p:nvPr/>
        </p:nvCxnSpPr>
        <p:spPr>
          <a:xfrm>
            <a:off x="3048000" y="4186814"/>
            <a:ext cx="5987716" cy="0"/>
          </a:xfrm>
          <a:prstGeom prst="line">
            <a:avLst/>
          </a:prstGeom>
          <a:ln>
            <a:solidFill>
              <a:srgbClr val="25316F"/>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C41205E-5BB0-2642-8A12-D1DF72E9D80B}"/>
              </a:ext>
            </a:extLst>
          </p:cNvPr>
          <p:cNvSpPr txBox="1"/>
          <p:nvPr/>
        </p:nvSpPr>
        <p:spPr>
          <a:xfrm>
            <a:off x="5847347" y="2310063"/>
            <a:ext cx="184731" cy="369332"/>
          </a:xfrm>
          <a:prstGeom prst="rect">
            <a:avLst/>
          </a:prstGeom>
          <a:noFill/>
        </p:spPr>
        <p:txBody>
          <a:bodyPr wrap="none" rtlCol="0">
            <a:spAutoFit/>
          </a:bodyPr>
          <a:lstStyle/>
          <a:p>
            <a:endParaRPr lang="en-US" dirty="0"/>
          </a:p>
        </p:txBody>
      </p:sp>
      <p:pic>
        <p:nvPicPr>
          <p:cNvPr id="2" name="Picture 1">
            <a:extLst>
              <a:ext uri="{FF2B5EF4-FFF2-40B4-BE49-F238E27FC236}">
                <a16:creationId xmlns:a16="http://schemas.microsoft.com/office/drawing/2014/main" id="{6588DF50-20AE-424A-A7AC-B51481028345}"/>
              </a:ext>
            </a:extLst>
          </p:cNvPr>
          <p:cNvPicPr>
            <a:picLocks noChangeAspect="1"/>
          </p:cNvPicPr>
          <p:nvPr/>
        </p:nvPicPr>
        <p:blipFill>
          <a:blip r:embed="rId2"/>
          <a:stretch>
            <a:fillRect/>
          </a:stretch>
        </p:blipFill>
        <p:spPr>
          <a:xfrm>
            <a:off x="3456332" y="916277"/>
            <a:ext cx="5067300" cy="2933700"/>
          </a:xfrm>
          <a:prstGeom prst="rect">
            <a:avLst/>
          </a:prstGeom>
        </p:spPr>
      </p:pic>
    </p:spTree>
    <p:extLst>
      <p:ext uri="{BB962C8B-B14F-4D97-AF65-F5344CB8AC3E}">
        <p14:creationId xmlns:p14="http://schemas.microsoft.com/office/powerpoint/2010/main" val="2171019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20E1FAB-B9E7-2C47-BF21-8933A5E319BF}"/>
              </a:ext>
            </a:extLst>
          </p:cNvPr>
          <p:cNvSpPr>
            <a:spLocks noGrp="1"/>
          </p:cNvSpPr>
          <p:nvPr>
            <p:ph type="ftr" sz="quarter" idx="11"/>
          </p:nvPr>
        </p:nvSpPr>
        <p:spPr>
          <a:xfrm>
            <a:off x="1097278" y="6446838"/>
            <a:ext cx="9930113" cy="365125"/>
          </a:xfrm>
        </p:spPr>
        <p:txBody>
          <a:bodyPr/>
          <a:lstStyle/>
          <a:p>
            <a:r>
              <a:rPr lang="en-US" dirty="0"/>
              <a:t>The BASIC Fund is a privately funded 501(c)3 organization based in the San Francisco Bay Area.   </a:t>
            </a:r>
          </a:p>
        </p:txBody>
      </p:sp>
      <p:sp>
        <p:nvSpPr>
          <p:cNvPr id="10" name="Rectangle 9">
            <a:extLst>
              <a:ext uri="{FF2B5EF4-FFF2-40B4-BE49-F238E27FC236}">
                <a16:creationId xmlns:a16="http://schemas.microsoft.com/office/drawing/2014/main" id="{86F1BB4B-8BC3-EC43-83D0-DA2DC4D6BB34}"/>
              </a:ext>
            </a:extLst>
          </p:cNvPr>
          <p:cNvSpPr/>
          <p:nvPr/>
        </p:nvSpPr>
        <p:spPr>
          <a:xfrm>
            <a:off x="3048000" y="4452281"/>
            <a:ext cx="5883965" cy="1477328"/>
          </a:xfrm>
          <a:prstGeom prst="rect">
            <a:avLst/>
          </a:prstGeom>
        </p:spPr>
        <p:txBody>
          <a:bodyPr wrap="square">
            <a:spAutoFit/>
          </a:bodyPr>
          <a:lstStyle/>
          <a:p>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On behalf of the BASIC Fund, our Board of Directors, and </a:t>
            </a:r>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the 3,375 bay area children </a:t>
            </a:r>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who are currently receiving our scholarships for the 2020-21 school year, we are proud to share some information about our organization. </a:t>
            </a:r>
          </a:p>
        </p:txBody>
      </p:sp>
      <p:cxnSp>
        <p:nvCxnSpPr>
          <p:cNvPr id="12" name="Straight Connector 11">
            <a:extLst>
              <a:ext uri="{FF2B5EF4-FFF2-40B4-BE49-F238E27FC236}">
                <a16:creationId xmlns:a16="http://schemas.microsoft.com/office/drawing/2014/main" id="{6DDD3A60-9B9F-1243-ADA7-123124F8D705}"/>
              </a:ext>
            </a:extLst>
          </p:cNvPr>
          <p:cNvCxnSpPr/>
          <p:nvPr/>
        </p:nvCxnSpPr>
        <p:spPr>
          <a:xfrm>
            <a:off x="3048000" y="4186814"/>
            <a:ext cx="5987716" cy="0"/>
          </a:xfrm>
          <a:prstGeom prst="line">
            <a:avLst/>
          </a:prstGeom>
          <a:ln>
            <a:solidFill>
              <a:srgbClr val="25316F"/>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C41205E-5BB0-2642-8A12-D1DF72E9D80B}"/>
              </a:ext>
            </a:extLst>
          </p:cNvPr>
          <p:cNvSpPr txBox="1"/>
          <p:nvPr/>
        </p:nvSpPr>
        <p:spPr>
          <a:xfrm>
            <a:off x="5847347" y="2310063"/>
            <a:ext cx="184731" cy="369332"/>
          </a:xfrm>
          <a:prstGeom prst="rect">
            <a:avLst/>
          </a:prstGeom>
          <a:noFill/>
        </p:spPr>
        <p:txBody>
          <a:bodyPr wrap="none" rtlCol="0">
            <a:spAutoFit/>
          </a:bodyPr>
          <a:lstStyle/>
          <a:p>
            <a:endParaRPr lang="en-US" dirty="0"/>
          </a:p>
        </p:txBody>
      </p:sp>
      <p:pic>
        <p:nvPicPr>
          <p:cNvPr id="2" name="Picture 1">
            <a:extLst>
              <a:ext uri="{FF2B5EF4-FFF2-40B4-BE49-F238E27FC236}">
                <a16:creationId xmlns:a16="http://schemas.microsoft.com/office/drawing/2014/main" id="{91CD4D6C-9937-C849-B522-F3FAAAB13C68}"/>
              </a:ext>
            </a:extLst>
          </p:cNvPr>
          <p:cNvPicPr>
            <a:picLocks noChangeAspect="1"/>
          </p:cNvPicPr>
          <p:nvPr/>
        </p:nvPicPr>
        <p:blipFill>
          <a:blip r:embed="rId2"/>
          <a:stretch>
            <a:fillRect/>
          </a:stretch>
        </p:blipFill>
        <p:spPr>
          <a:xfrm>
            <a:off x="3456332" y="865477"/>
            <a:ext cx="5067300" cy="2984500"/>
          </a:xfrm>
          <a:prstGeom prst="rect">
            <a:avLst/>
          </a:prstGeom>
        </p:spPr>
      </p:pic>
    </p:spTree>
    <p:extLst>
      <p:ext uri="{BB962C8B-B14F-4D97-AF65-F5344CB8AC3E}">
        <p14:creationId xmlns:p14="http://schemas.microsoft.com/office/powerpoint/2010/main" val="3342543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20E1FAB-B9E7-2C47-BF21-8933A5E319BF}"/>
              </a:ext>
            </a:extLst>
          </p:cNvPr>
          <p:cNvSpPr>
            <a:spLocks noGrp="1"/>
          </p:cNvSpPr>
          <p:nvPr>
            <p:ph type="ftr" sz="quarter" idx="11"/>
          </p:nvPr>
        </p:nvSpPr>
        <p:spPr>
          <a:xfrm>
            <a:off x="1097278" y="6446838"/>
            <a:ext cx="9930113" cy="365125"/>
          </a:xfrm>
        </p:spPr>
        <p:txBody>
          <a:bodyPr/>
          <a:lstStyle/>
          <a:p>
            <a:r>
              <a:rPr lang="en-US" dirty="0"/>
              <a:t>The BASIC Fund is a privately funded 501(c)3 organization based in the San Francisco Bay Area.   </a:t>
            </a:r>
          </a:p>
        </p:txBody>
      </p:sp>
      <p:sp>
        <p:nvSpPr>
          <p:cNvPr id="10" name="Rectangle 9">
            <a:extLst>
              <a:ext uri="{FF2B5EF4-FFF2-40B4-BE49-F238E27FC236}">
                <a16:creationId xmlns:a16="http://schemas.microsoft.com/office/drawing/2014/main" id="{86F1BB4B-8BC3-EC43-83D0-DA2DC4D6BB34}"/>
              </a:ext>
            </a:extLst>
          </p:cNvPr>
          <p:cNvSpPr/>
          <p:nvPr/>
        </p:nvSpPr>
        <p:spPr>
          <a:xfrm>
            <a:off x="3048000" y="4452281"/>
            <a:ext cx="5883965" cy="1477328"/>
          </a:xfrm>
          <a:prstGeom prst="rect">
            <a:avLst/>
          </a:prstGeom>
        </p:spPr>
        <p:txBody>
          <a:bodyPr wrap="square">
            <a:spAutoFit/>
          </a:bodyPr>
          <a:lstStyle/>
          <a:p>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On behalf of the BASIC Fund, our Board of Directors, and </a:t>
            </a:r>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the 3,375 bay area children </a:t>
            </a:r>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who are currently receiving our scholarships for the 2020-21 school year, we are proud to share some information about our organization. </a:t>
            </a:r>
          </a:p>
        </p:txBody>
      </p:sp>
      <p:cxnSp>
        <p:nvCxnSpPr>
          <p:cNvPr id="12" name="Straight Connector 11">
            <a:extLst>
              <a:ext uri="{FF2B5EF4-FFF2-40B4-BE49-F238E27FC236}">
                <a16:creationId xmlns:a16="http://schemas.microsoft.com/office/drawing/2014/main" id="{6DDD3A60-9B9F-1243-ADA7-123124F8D705}"/>
              </a:ext>
            </a:extLst>
          </p:cNvPr>
          <p:cNvCxnSpPr/>
          <p:nvPr/>
        </p:nvCxnSpPr>
        <p:spPr>
          <a:xfrm>
            <a:off x="3048000" y="4186814"/>
            <a:ext cx="5987716" cy="0"/>
          </a:xfrm>
          <a:prstGeom prst="line">
            <a:avLst/>
          </a:prstGeom>
          <a:ln>
            <a:solidFill>
              <a:srgbClr val="25316F"/>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C41205E-5BB0-2642-8A12-D1DF72E9D80B}"/>
              </a:ext>
            </a:extLst>
          </p:cNvPr>
          <p:cNvSpPr txBox="1"/>
          <p:nvPr/>
        </p:nvSpPr>
        <p:spPr>
          <a:xfrm>
            <a:off x="5847347" y="2310063"/>
            <a:ext cx="184731" cy="369332"/>
          </a:xfrm>
          <a:prstGeom prst="rect">
            <a:avLst/>
          </a:prstGeom>
          <a:noFill/>
        </p:spPr>
        <p:txBody>
          <a:bodyPr wrap="none" rtlCol="0">
            <a:spAutoFit/>
          </a:bodyPr>
          <a:lstStyle/>
          <a:p>
            <a:endParaRPr lang="en-US" dirty="0"/>
          </a:p>
        </p:txBody>
      </p:sp>
      <p:pic>
        <p:nvPicPr>
          <p:cNvPr id="2" name="Picture 1">
            <a:extLst>
              <a:ext uri="{FF2B5EF4-FFF2-40B4-BE49-F238E27FC236}">
                <a16:creationId xmlns:a16="http://schemas.microsoft.com/office/drawing/2014/main" id="{E9ADC7A4-9556-114E-A01A-B15450FD003F}"/>
              </a:ext>
            </a:extLst>
          </p:cNvPr>
          <p:cNvPicPr>
            <a:picLocks noChangeAspect="1"/>
          </p:cNvPicPr>
          <p:nvPr/>
        </p:nvPicPr>
        <p:blipFill>
          <a:blip r:embed="rId2"/>
          <a:stretch>
            <a:fillRect/>
          </a:stretch>
        </p:blipFill>
        <p:spPr>
          <a:xfrm>
            <a:off x="3456332" y="878177"/>
            <a:ext cx="5067300" cy="2971800"/>
          </a:xfrm>
          <a:prstGeom prst="rect">
            <a:avLst/>
          </a:prstGeom>
        </p:spPr>
      </p:pic>
    </p:spTree>
    <p:extLst>
      <p:ext uri="{BB962C8B-B14F-4D97-AF65-F5344CB8AC3E}">
        <p14:creationId xmlns:p14="http://schemas.microsoft.com/office/powerpoint/2010/main" val="1789312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20E1FAB-B9E7-2C47-BF21-8933A5E319BF}"/>
              </a:ext>
            </a:extLst>
          </p:cNvPr>
          <p:cNvSpPr>
            <a:spLocks noGrp="1"/>
          </p:cNvSpPr>
          <p:nvPr>
            <p:ph type="ftr" sz="quarter" idx="11"/>
          </p:nvPr>
        </p:nvSpPr>
        <p:spPr>
          <a:xfrm>
            <a:off x="1097278" y="6446838"/>
            <a:ext cx="9930113" cy="365125"/>
          </a:xfrm>
        </p:spPr>
        <p:txBody>
          <a:bodyPr/>
          <a:lstStyle/>
          <a:p>
            <a:r>
              <a:rPr lang="en-US" dirty="0"/>
              <a:t>The BASIC Fund is a privately funded 501(c)3 organization based in the San Francisco Bay Area.   </a:t>
            </a:r>
          </a:p>
        </p:txBody>
      </p:sp>
      <p:sp>
        <p:nvSpPr>
          <p:cNvPr id="10" name="Rectangle 9">
            <a:extLst>
              <a:ext uri="{FF2B5EF4-FFF2-40B4-BE49-F238E27FC236}">
                <a16:creationId xmlns:a16="http://schemas.microsoft.com/office/drawing/2014/main" id="{86F1BB4B-8BC3-EC43-83D0-DA2DC4D6BB34}"/>
              </a:ext>
            </a:extLst>
          </p:cNvPr>
          <p:cNvSpPr/>
          <p:nvPr/>
        </p:nvSpPr>
        <p:spPr>
          <a:xfrm>
            <a:off x="3048000" y="4452281"/>
            <a:ext cx="5883965" cy="1477328"/>
          </a:xfrm>
          <a:prstGeom prst="rect">
            <a:avLst/>
          </a:prstGeom>
        </p:spPr>
        <p:txBody>
          <a:bodyPr wrap="square">
            <a:spAutoFit/>
          </a:bodyPr>
          <a:lstStyle/>
          <a:p>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On behalf of the BASIC Fund, our Board of Directors, and </a:t>
            </a:r>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the 3,375 bay area children </a:t>
            </a:r>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who are currently receiving our scholarships for the 2020-21 school year, we are proud to share some information about our organization. </a:t>
            </a:r>
          </a:p>
        </p:txBody>
      </p:sp>
      <p:cxnSp>
        <p:nvCxnSpPr>
          <p:cNvPr id="12" name="Straight Connector 11">
            <a:extLst>
              <a:ext uri="{FF2B5EF4-FFF2-40B4-BE49-F238E27FC236}">
                <a16:creationId xmlns:a16="http://schemas.microsoft.com/office/drawing/2014/main" id="{6DDD3A60-9B9F-1243-ADA7-123124F8D705}"/>
              </a:ext>
            </a:extLst>
          </p:cNvPr>
          <p:cNvCxnSpPr/>
          <p:nvPr/>
        </p:nvCxnSpPr>
        <p:spPr>
          <a:xfrm>
            <a:off x="3048000" y="4186814"/>
            <a:ext cx="5987716" cy="0"/>
          </a:xfrm>
          <a:prstGeom prst="line">
            <a:avLst/>
          </a:prstGeom>
          <a:ln>
            <a:solidFill>
              <a:srgbClr val="25316F"/>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C41205E-5BB0-2642-8A12-D1DF72E9D80B}"/>
              </a:ext>
            </a:extLst>
          </p:cNvPr>
          <p:cNvSpPr txBox="1"/>
          <p:nvPr/>
        </p:nvSpPr>
        <p:spPr>
          <a:xfrm>
            <a:off x="5847347" y="2310063"/>
            <a:ext cx="184731" cy="369332"/>
          </a:xfrm>
          <a:prstGeom prst="rect">
            <a:avLst/>
          </a:prstGeom>
          <a:noFill/>
        </p:spPr>
        <p:txBody>
          <a:bodyPr wrap="none" rtlCol="0">
            <a:spAutoFit/>
          </a:bodyPr>
          <a:lstStyle/>
          <a:p>
            <a:endParaRPr lang="en-US" dirty="0"/>
          </a:p>
        </p:txBody>
      </p:sp>
      <p:pic>
        <p:nvPicPr>
          <p:cNvPr id="5" name="Picture 4">
            <a:extLst>
              <a:ext uri="{FF2B5EF4-FFF2-40B4-BE49-F238E27FC236}">
                <a16:creationId xmlns:a16="http://schemas.microsoft.com/office/drawing/2014/main" id="{556AC9AE-9E98-9247-892D-C88C6D36B902}"/>
              </a:ext>
            </a:extLst>
          </p:cNvPr>
          <p:cNvPicPr>
            <a:picLocks noChangeAspect="1"/>
          </p:cNvPicPr>
          <p:nvPr/>
        </p:nvPicPr>
        <p:blipFill>
          <a:blip r:embed="rId2"/>
          <a:stretch>
            <a:fillRect/>
          </a:stretch>
        </p:blipFill>
        <p:spPr>
          <a:xfrm>
            <a:off x="3456332" y="916277"/>
            <a:ext cx="5067300" cy="2921000"/>
          </a:xfrm>
          <a:prstGeom prst="rect">
            <a:avLst/>
          </a:prstGeom>
        </p:spPr>
      </p:pic>
    </p:spTree>
    <p:extLst>
      <p:ext uri="{BB962C8B-B14F-4D97-AF65-F5344CB8AC3E}">
        <p14:creationId xmlns:p14="http://schemas.microsoft.com/office/powerpoint/2010/main" val="1978380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20E1FAB-B9E7-2C47-BF21-8933A5E319BF}"/>
              </a:ext>
            </a:extLst>
          </p:cNvPr>
          <p:cNvSpPr>
            <a:spLocks noGrp="1"/>
          </p:cNvSpPr>
          <p:nvPr>
            <p:ph type="ftr" sz="quarter" idx="11"/>
          </p:nvPr>
        </p:nvSpPr>
        <p:spPr>
          <a:xfrm>
            <a:off x="1097278" y="6446838"/>
            <a:ext cx="9930113" cy="365125"/>
          </a:xfrm>
        </p:spPr>
        <p:txBody>
          <a:bodyPr/>
          <a:lstStyle/>
          <a:p>
            <a:r>
              <a:rPr lang="en-US" dirty="0"/>
              <a:t>The BASIC Fund is a privately funded 501(c)3 organization based in the San Francisco Bay Area.   </a:t>
            </a:r>
          </a:p>
        </p:txBody>
      </p:sp>
      <p:sp>
        <p:nvSpPr>
          <p:cNvPr id="10" name="Rectangle 9">
            <a:extLst>
              <a:ext uri="{FF2B5EF4-FFF2-40B4-BE49-F238E27FC236}">
                <a16:creationId xmlns:a16="http://schemas.microsoft.com/office/drawing/2014/main" id="{86F1BB4B-8BC3-EC43-83D0-DA2DC4D6BB34}"/>
              </a:ext>
            </a:extLst>
          </p:cNvPr>
          <p:cNvSpPr/>
          <p:nvPr/>
        </p:nvSpPr>
        <p:spPr>
          <a:xfrm>
            <a:off x="3048000" y="4452281"/>
            <a:ext cx="5883965" cy="1477328"/>
          </a:xfrm>
          <a:prstGeom prst="rect">
            <a:avLst/>
          </a:prstGeom>
        </p:spPr>
        <p:txBody>
          <a:bodyPr wrap="square">
            <a:spAutoFit/>
          </a:bodyPr>
          <a:lstStyle/>
          <a:p>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On behalf of the BASIC Fund, our Board of Directors, and </a:t>
            </a:r>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the 3,375 bay area children </a:t>
            </a:r>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who are currently receiving our scholarships for the 2020-21 school year, we are proud to share some information about our organization. </a:t>
            </a:r>
          </a:p>
        </p:txBody>
      </p:sp>
      <p:cxnSp>
        <p:nvCxnSpPr>
          <p:cNvPr id="12" name="Straight Connector 11">
            <a:extLst>
              <a:ext uri="{FF2B5EF4-FFF2-40B4-BE49-F238E27FC236}">
                <a16:creationId xmlns:a16="http://schemas.microsoft.com/office/drawing/2014/main" id="{6DDD3A60-9B9F-1243-ADA7-123124F8D705}"/>
              </a:ext>
            </a:extLst>
          </p:cNvPr>
          <p:cNvCxnSpPr/>
          <p:nvPr/>
        </p:nvCxnSpPr>
        <p:spPr>
          <a:xfrm>
            <a:off x="3048000" y="4186814"/>
            <a:ext cx="5987716" cy="0"/>
          </a:xfrm>
          <a:prstGeom prst="line">
            <a:avLst/>
          </a:prstGeom>
          <a:ln>
            <a:solidFill>
              <a:srgbClr val="25316F"/>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C41205E-5BB0-2642-8A12-D1DF72E9D80B}"/>
              </a:ext>
            </a:extLst>
          </p:cNvPr>
          <p:cNvSpPr txBox="1"/>
          <p:nvPr/>
        </p:nvSpPr>
        <p:spPr>
          <a:xfrm>
            <a:off x="5847347" y="2310063"/>
            <a:ext cx="184731" cy="369332"/>
          </a:xfrm>
          <a:prstGeom prst="rect">
            <a:avLst/>
          </a:prstGeom>
          <a:noFill/>
        </p:spPr>
        <p:txBody>
          <a:bodyPr wrap="none" rtlCol="0">
            <a:spAutoFit/>
          </a:bodyPr>
          <a:lstStyle/>
          <a:p>
            <a:endParaRPr lang="en-US" dirty="0"/>
          </a:p>
        </p:txBody>
      </p:sp>
      <p:pic>
        <p:nvPicPr>
          <p:cNvPr id="3" name="Picture 2">
            <a:extLst>
              <a:ext uri="{FF2B5EF4-FFF2-40B4-BE49-F238E27FC236}">
                <a16:creationId xmlns:a16="http://schemas.microsoft.com/office/drawing/2014/main" id="{B90BD413-4740-4742-878B-5A1D1972C47B}"/>
              </a:ext>
            </a:extLst>
          </p:cNvPr>
          <p:cNvPicPr>
            <a:picLocks noChangeAspect="1"/>
          </p:cNvPicPr>
          <p:nvPr/>
        </p:nvPicPr>
        <p:blipFill>
          <a:blip r:embed="rId2"/>
          <a:stretch>
            <a:fillRect/>
          </a:stretch>
        </p:blipFill>
        <p:spPr>
          <a:xfrm>
            <a:off x="2971459" y="1966983"/>
            <a:ext cx="6208892" cy="1913291"/>
          </a:xfrm>
          <a:prstGeom prst="rect">
            <a:avLst/>
          </a:prstGeom>
        </p:spPr>
      </p:pic>
    </p:spTree>
    <p:extLst>
      <p:ext uri="{BB962C8B-B14F-4D97-AF65-F5344CB8AC3E}">
        <p14:creationId xmlns:p14="http://schemas.microsoft.com/office/powerpoint/2010/main" val="4273647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D0A5FF4-FF9A-1A4B-B8C0-34D4642D9839}"/>
              </a:ext>
            </a:extLst>
          </p:cNvPr>
          <p:cNvSpPr/>
          <p:nvPr/>
        </p:nvSpPr>
        <p:spPr>
          <a:xfrm>
            <a:off x="-113682" y="-91773"/>
            <a:ext cx="12521144" cy="2967985"/>
          </a:xfrm>
          <a:prstGeom prst="rect">
            <a:avLst/>
          </a:prstGeom>
          <a:solidFill>
            <a:srgbClr val="2531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2F4E3B84-7C22-BF48-BFBC-443CB590C907}"/>
              </a:ext>
            </a:extLst>
          </p:cNvPr>
          <p:cNvSpPr>
            <a:spLocks noGrp="1"/>
          </p:cNvSpPr>
          <p:nvPr>
            <p:ph type="ftr" sz="quarter" idx="11"/>
          </p:nvPr>
        </p:nvSpPr>
        <p:spPr>
          <a:xfrm>
            <a:off x="1097279" y="6446838"/>
            <a:ext cx="9575270" cy="365125"/>
          </a:xfrm>
        </p:spPr>
        <p:txBody>
          <a:bodyPr/>
          <a:lstStyle/>
          <a:p>
            <a:r>
              <a:rPr lang="en-US" dirty="0"/>
              <a:t>The BASIC Fund is a privately funded 501(c)3 organization based in the San Francisco Bay Area.   </a:t>
            </a:r>
          </a:p>
        </p:txBody>
      </p:sp>
      <p:sp>
        <p:nvSpPr>
          <p:cNvPr id="3" name="Slide Number Placeholder 2">
            <a:extLst>
              <a:ext uri="{FF2B5EF4-FFF2-40B4-BE49-F238E27FC236}">
                <a16:creationId xmlns:a16="http://schemas.microsoft.com/office/drawing/2014/main" id="{374A6A73-7070-F44B-B0DB-D7428C69F35F}"/>
              </a:ext>
            </a:extLst>
          </p:cNvPr>
          <p:cNvSpPr>
            <a:spLocks noGrp="1"/>
          </p:cNvSpPr>
          <p:nvPr>
            <p:ph type="sldNum" sz="quarter" idx="12"/>
          </p:nvPr>
        </p:nvSpPr>
        <p:spPr/>
        <p:txBody>
          <a:bodyPr/>
          <a:lstStyle/>
          <a:p>
            <a:fld id="{3A98EE3D-8CD1-4C3F-BD1C-C98C9596463C}" type="slidenum">
              <a:rPr lang="en-US" smtClean="0"/>
              <a:t>10</a:t>
            </a:fld>
            <a:endParaRPr lang="en-US" dirty="0"/>
          </a:p>
        </p:txBody>
      </p:sp>
      <p:grpSp>
        <p:nvGrpSpPr>
          <p:cNvPr id="22" name="Group 21">
            <a:extLst>
              <a:ext uri="{FF2B5EF4-FFF2-40B4-BE49-F238E27FC236}">
                <a16:creationId xmlns:a16="http://schemas.microsoft.com/office/drawing/2014/main" id="{A24AD3C3-0070-9D44-ABE4-94E0EAC5A70C}"/>
              </a:ext>
            </a:extLst>
          </p:cNvPr>
          <p:cNvGrpSpPr/>
          <p:nvPr/>
        </p:nvGrpSpPr>
        <p:grpSpPr>
          <a:xfrm>
            <a:off x="3011130" y="3499851"/>
            <a:ext cx="6118792" cy="896828"/>
            <a:chOff x="3011130" y="3737695"/>
            <a:chExt cx="6118792" cy="896828"/>
          </a:xfrm>
        </p:grpSpPr>
        <p:sp>
          <p:nvSpPr>
            <p:cNvPr id="7" name="Rectangle 6">
              <a:extLst>
                <a:ext uri="{FF2B5EF4-FFF2-40B4-BE49-F238E27FC236}">
                  <a16:creationId xmlns:a16="http://schemas.microsoft.com/office/drawing/2014/main" id="{152492AC-A98D-944B-87F3-8D27A128CC5C}"/>
                </a:ext>
              </a:extLst>
            </p:cNvPr>
            <p:cNvSpPr/>
            <p:nvPr/>
          </p:nvSpPr>
          <p:spPr>
            <a:xfrm>
              <a:off x="4735595" y="3737695"/>
              <a:ext cx="2720809" cy="341632"/>
            </a:xfrm>
            <a:prstGeom prst="rect">
              <a:avLst/>
            </a:prstGeom>
          </p:spPr>
          <p:txBody>
            <a:bodyPr wrap="none">
              <a:spAutoFit/>
            </a:bodyPr>
            <a:lstStyle/>
            <a:p>
              <a:pPr algn="ctr">
                <a:lnSpc>
                  <a:spcPct val="90000"/>
                </a:lnSpc>
              </a:pPr>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Scholarships Awarded</a:t>
              </a:r>
              <a:endPar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0" name="Straight Connector 9">
              <a:extLst>
                <a:ext uri="{FF2B5EF4-FFF2-40B4-BE49-F238E27FC236}">
                  <a16:creationId xmlns:a16="http://schemas.microsoft.com/office/drawing/2014/main" id="{49550AE8-7B8E-F64A-BB7F-0E859F8F4F6D}"/>
                </a:ext>
              </a:extLst>
            </p:cNvPr>
            <p:cNvCxnSpPr/>
            <p:nvPr/>
          </p:nvCxnSpPr>
          <p:spPr>
            <a:xfrm>
              <a:off x="3048000" y="4148859"/>
              <a:ext cx="5987716" cy="0"/>
            </a:xfrm>
            <a:prstGeom prst="line">
              <a:avLst/>
            </a:prstGeom>
            <a:ln>
              <a:solidFill>
                <a:srgbClr val="25316F"/>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D8E515C-DA0B-884D-8C26-A8AD9D278112}"/>
                </a:ext>
              </a:extLst>
            </p:cNvPr>
            <p:cNvSpPr/>
            <p:nvPr/>
          </p:nvSpPr>
          <p:spPr>
            <a:xfrm>
              <a:off x="3048000" y="3883207"/>
              <a:ext cx="505267" cy="261610"/>
            </a:xfrm>
            <a:prstGeom prst="rect">
              <a:avLst/>
            </a:prstGeom>
          </p:spPr>
          <p:txBody>
            <a:bodyPr wrap="none">
              <a:spAutoFit/>
            </a:bodyPr>
            <a:lstStyle/>
            <a:p>
              <a:r>
                <a:rPr lang="en-US" sz="1100" dirty="0">
                  <a:solidFill>
                    <a:srgbClr val="25316F"/>
                  </a:solidFill>
                  <a:latin typeface="Open Sans" panose="020B0606030504020204" pitchFamily="34" charset="0"/>
                  <a:ea typeface="Open Sans" panose="020B0606030504020204" pitchFamily="34" charset="0"/>
                  <a:cs typeface="Open Sans" panose="020B0606030504020204" pitchFamily="34" charset="0"/>
                </a:rPr>
                <a:t>1998</a:t>
              </a:r>
              <a:endParaRPr lang="en-US" sz="1100" dirty="0"/>
            </a:p>
          </p:txBody>
        </p:sp>
        <p:sp>
          <p:nvSpPr>
            <p:cNvPr id="12" name="Rectangle 11">
              <a:extLst>
                <a:ext uri="{FF2B5EF4-FFF2-40B4-BE49-F238E27FC236}">
                  <a16:creationId xmlns:a16="http://schemas.microsoft.com/office/drawing/2014/main" id="{F1BC8FCB-CBAF-B745-B168-C416A23B7004}"/>
                </a:ext>
              </a:extLst>
            </p:cNvPr>
            <p:cNvSpPr/>
            <p:nvPr/>
          </p:nvSpPr>
          <p:spPr>
            <a:xfrm>
              <a:off x="8484704" y="3883207"/>
              <a:ext cx="505267" cy="261610"/>
            </a:xfrm>
            <a:prstGeom prst="rect">
              <a:avLst/>
            </a:prstGeom>
          </p:spPr>
          <p:txBody>
            <a:bodyPr wrap="none">
              <a:spAutoFit/>
            </a:bodyPr>
            <a:lstStyle/>
            <a:p>
              <a:r>
                <a:rPr lang="en-US" sz="1100" dirty="0">
                  <a:solidFill>
                    <a:srgbClr val="25316F"/>
                  </a:solidFill>
                  <a:latin typeface="Open Sans" panose="020B0606030504020204" pitchFamily="34" charset="0"/>
                  <a:ea typeface="Open Sans" panose="020B0606030504020204" pitchFamily="34" charset="0"/>
                  <a:cs typeface="Open Sans" panose="020B0606030504020204" pitchFamily="34" charset="0"/>
                </a:rPr>
                <a:t>2020</a:t>
              </a:r>
              <a:endParaRPr lang="en-US" sz="1100" dirty="0"/>
            </a:p>
          </p:txBody>
        </p:sp>
        <p:sp>
          <p:nvSpPr>
            <p:cNvPr id="13" name="Rectangle 12">
              <a:extLst>
                <a:ext uri="{FF2B5EF4-FFF2-40B4-BE49-F238E27FC236}">
                  <a16:creationId xmlns:a16="http://schemas.microsoft.com/office/drawing/2014/main" id="{D549A18C-DE78-D549-8637-2DD70CB543FE}"/>
                </a:ext>
              </a:extLst>
            </p:cNvPr>
            <p:cNvSpPr/>
            <p:nvPr/>
          </p:nvSpPr>
          <p:spPr>
            <a:xfrm>
              <a:off x="3011130" y="4265191"/>
              <a:ext cx="579005" cy="369332"/>
            </a:xfrm>
            <a:prstGeom prst="rect">
              <a:avLst/>
            </a:prstGeom>
          </p:spPr>
          <p:txBody>
            <a:bodyPr wrap="none">
              <a:spAutoFit/>
            </a:bodyPr>
            <a:lstStyle/>
            <a:p>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300</a:t>
              </a:r>
              <a:endParaRPr lang="en-US" b="1" dirty="0">
                <a:solidFill>
                  <a:srgbClr val="25316F"/>
                </a:solidFill>
              </a:endParaRPr>
            </a:p>
          </p:txBody>
        </p:sp>
        <p:sp>
          <p:nvSpPr>
            <p:cNvPr id="14" name="Rectangle 13">
              <a:extLst>
                <a:ext uri="{FF2B5EF4-FFF2-40B4-BE49-F238E27FC236}">
                  <a16:creationId xmlns:a16="http://schemas.microsoft.com/office/drawing/2014/main" id="{32023ADB-58FC-F240-ACB9-9C0B0F9AF606}"/>
                </a:ext>
              </a:extLst>
            </p:cNvPr>
            <p:cNvSpPr/>
            <p:nvPr/>
          </p:nvSpPr>
          <p:spPr>
            <a:xfrm>
              <a:off x="8352145" y="4265191"/>
              <a:ext cx="777777" cy="369332"/>
            </a:xfrm>
            <a:prstGeom prst="rect">
              <a:avLst/>
            </a:prstGeom>
          </p:spPr>
          <p:txBody>
            <a:bodyPr wrap="none">
              <a:spAutoFit/>
            </a:bodyPr>
            <a:lstStyle/>
            <a:p>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3,375</a:t>
              </a:r>
            </a:p>
          </p:txBody>
        </p:sp>
      </p:grpSp>
      <p:grpSp>
        <p:nvGrpSpPr>
          <p:cNvPr id="23" name="Group 22">
            <a:extLst>
              <a:ext uri="{FF2B5EF4-FFF2-40B4-BE49-F238E27FC236}">
                <a16:creationId xmlns:a16="http://schemas.microsoft.com/office/drawing/2014/main" id="{669BBE1A-6284-2648-AE1F-1684AC75A1EA}"/>
              </a:ext>
            </a:extLst>
          </p:cNvPr>
          <p:cNvGrpSpPr/>
          <p:nvPr/>
        </p:nvGrpSpPr>
        <p:grpSpPr>
          <a:xfrm>
            <a:off x="3279121" y="4938799"/>
            <a:ext cx="5633758" cy="717899"/>
            <a:chOff x="3553267" y="4938799"/>
            <a:chExt cx="5633758" cy="717899"/>
          </a:xfrm>
        </p:grpSpPr>
        <p:sp>
          <p:nvSpPr>
            <p:cNvPr id="15" name="Rectangle 14">
              <a:extLst>
                <a:ext uri="{FF2B5EF4-FFF2-40B4-BE49-F238E27FC236}">
                  <a16:creationId xmlns:a16="http://schemas.microsoft.com/office/drawing/2014/main" id="{6E833B51-4C25-BA49-8251-6E51EDE7371F}"/>
                </a:ext>
              </a:extLst>
            </p:cNvPr>
            <p:cNvSpPr/>
            <p:nvPr/>
          </p:nvSpPr>
          <p:spPr>
            <a:xfrm>
              <a:off x="3698339" y="4938799"/>
              <a:ext cx="1612942" cy="480131"/>
            </a:xfrm>
            <a:prstGeom prst="rect">
              <a:avLst/>
            </a:prstGeom>
          </p:spPr>
          <p:txBody>
            <a:bodyPr wrap="none">
              <a:spAutoFit/>
            </a:bodyPr>
            <a:lstStyle/>
            <a:p>
              <a:pPr>
                <a:lnSpc>
                  <a:spcPct val="90000"/>
                </a:lnSpc>
              </a:pPr>
              <a:r>
                <a:rPr lang="en-US" sz="28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24,000 +</a:t>
              </a:r>
              <a:endParaRPr lang="en-US" sz="2800" dirty="0">
                <a:solidFill>
                  <a:srgbClr val="25316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Rectangle 15">
              <a:extLst>
                <a:ext uri="{FF2B5EF4-FFF2-40B4-BE49-F238E27FC236}">
                  <a16:creationId xmlns:a16="http://schemas.microsoft.com/office/drawing/2014/main" id="{5C3C75C9-8BCC-8641-8915-ABDABA615C1A}"/>
                </a:ext>
              </a:extLst>
            </p:cNvPr>
            <p:cNvSpPr/>
            <p:nvPr/>
          </p:nvSpPr>
          <p:spPr>
            <a:xfrm>
              <a:off x="3553267" y="5287366"/>
              <a:ext cx="1903085" cy="369332"/>
            </a:xfrm>
            <a:prstGeom prst="rect">
              <a:avLst/>
            </a:prstGeom>
          </p:spPr>
          <p:txBody>
            <a:bodyPr wrap="none">
              <a:spAutoFit/>
            </a:bodyPr>
            <a:lstStyle/>
            <a:p>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students served</a:t>
              </a:r>
              <a:endParaRPr lang="en-US" dirty="0"/>
            </a:p>
          </p:txBody>
        </p:sp>
        <p:sp>
          <p:nvSpPr>
            <p:cNvPr id="17" name="Rectangle 16">
              <a:extLst>
                <a:ext uri="{FF2B5EF4-FFF2-40B4-BE49-F238E27FC236}">
                  <a16:creationId xmlns:a16="http://schemas.microsoft.com/office/drawing/2014/main" id="{2AFE0984-F673-4D4F-8F90-725033B3D359}"/>
                </a:ext>
              </a:extLst>
            </p:cNvPr>
            <p:cNvSpPr/>
            <p:nvPr/>
          </p:nvSpPr>
          <p:spPr>
            <a:xfrm>
              <a:off x="6841511" y="4938799"/>
              <a:ext cx="2345514" cy="480131"/>
            </a:xfrm>
            <a:prstGeom prst="rect">
              <a:avLst/>
            </a:prstGeom>
          </p:spPr>
          <p:txBody>
            <a:bodyPr wrap="none">
              <a:spAutoFit/>
            </a:bodyPr>
            <a:lstStyle/>
            <a:p>
              <a:pPr>
                <a:lnSpc>
                  <a:spcPct val="90000"/>
                </a:lnSpc>
              </a:pPr>
              <a:r>
                <a:rPr lang="en-US" sz="28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$132 million</a:t>
              </a:r>
              <a:endParaRPr lang="en-US" sz="2800" dirty="0">
                <a:solidFill>
                  <a:srgbClr val="25316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Rectangle 17">
              <a:extLst>
                <a:ext uri="{FF2B5EF4-FFF2-40B4-BE49-F238E27FC236}">
                  <a16:creationId xmlns:a16="http://schemas.microsoft.com/office/drawing/2014/main" id="{7D159322-0618-7E44-91F1-F63536F86BB6}"/>
                </a:ext>
              </a:extLst>
            </p:cNvPr>
            <p:cNvSpPr/>
            <p:nvPr/>
          </p:nvSpPr>
          <p:spPr>
            <a:xfrm>
              <a:off x="7118029" y="5287366"/>
              <a:ext cx="1792478" cy="369332"/>
            </a:xfrm>
            <a:prstGeom prst="rect">
              <a:avLst/>
            </a:prstGeom>
          </p:spPr>
          <p:txBody>
            <a:bodyPr wrap="none">
              <a:spAutoFit/>
            </a:bodyPr>
            <a:lstStyle/>
            <a:p>
              <a:r>
                <a:rPr lang="en-US" dirty="0">
                  <a:solidFill>
                    <a:srgbClr val="25316F"/>
                  </a:solidFill>
                  <a:latin typeface="Open Sans" panose="020B0606030504020204" pitchFamily="34" charset="0"/>
                  <a:ea typeface="Open Sans" panose="020B0606030504020204" pitchFamily="34" charset="0"/>
                  <a:cs typeface="Open Sans" panose="020B0606030504020204" pitchFamily="34" charset="0"/>
                </a:rPr>
                <a:t>in scholarships</a:t>
              </a:r>
              <a:endParaRPr lang="en-US" dirty="0"/>
            </a:p>
          </p:txBody>
        </p:sp>
      </p:grpSp>
      <p:sp>
        <p:nvSpPr>
          <p:cNvPr id="6" name="Rectangle 5">
            <a:extLst>
              <a:ext uri="{FF2B5EF4-FFF2-40B4-BE49-F238E27FC236}">
                <a16:creationId xmlns:a16="http://schemas.microsoft.com/office/drawing/2014/main" id="{29A925CC-C8D1-6049-BB8E-2859FE4A580B}"/>
              </a:ext>
            </a:extLst>
          </p:cNvPr>
          <p:cNvSpPr/>
          <p:nvPr/>
        </p:nvSpPr>
        <p:spPr>
          <a:xfrm>
            <a:off x="3657761" y="701286"/>
            <a:ext cx="6096000" cy="1369606"/>
          </a:xfrm>
          <a:prstGeom prst="rect">
            <a:avLst/>
          </a:prstGeom>
        </p:spPr>
        <p:txBody>
          <a:bodyPr wrap="square">
            <a:spAutoFit/>
          </a:bodyPr>
          <a:lstStyle/>
          <a:p>
            <a:pPr>
              <a:spcBef>
                <a:spcPts val="600"/>
              </a:spcBef>
            </a:pPr>
            <a:r>
              <a:rPr 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THE MISSION:</a:t>
            </a:r>
          </a:p>
          <a:p>
            <a:pPr>
              <a:spcBef>
                <a:spcPts val="600"/>
              </a:spcBef>
            </a:pPr>
            <a:r>
              <a:rPr lang="en-US" b="1" dirty="0">
                <a:solidFill>
                  <a:schemeClr val="bg1"/>
                </a:solidFill>
                <a:latin typeface="Open Sans" panose="020B0606030504020204" pitchFamily="34" charset="0"/>
                <a:ea typeface="Open Sans" panose="020B0606030504020204" pitchFamily="34" charset="0"/>
                <a:cs typeface="Open Sans" panose="020B0606030504020204" pitchFamily="34" charset="0"/>
              </a:rPr>
              <a:t>To advance educational equity </a:t>
            </a:r>
            <a:r>
              <a:rPr lang="en-US" dirty="0">
                <a:solidFill>
                  <a:schemeClr val="bg1"/>
                </a:solidFill>
                <a:latin typeface="Open Sans" panose="020B0606030504020204" pitchFamily="34" charset="0"/>
                <a:ea typeface="Open Sans" panose="020B0606030504020204" pitchFamily="34" charset="0"/>
                <a:cs typeface="Open Sans" panose="020B0606030504020204" pitchFamily="34" charset="0"/>
              </a:rPr>
              <a:t>for low-income families by helping offset the cost of tuition at private schools for Pre-K to 8</a:t>
            </a:r>
            <a:r>
              <a:rPr lang="en-US" baseline="30000" dirty="0">
                <a:solidFill>
                  <a:schemeClr val="bg1"/>
                </a:solidFill>
                <a:latin typeface="Open Sans" panose="020B0606030504020204" pitchFamily="34" charset="0"/>
                <a:ea typeface="Open Sans" panose="020B0606030504020204" pitchFamily="34" charset="0"/>
                <a:cs typeface="Open Sans" panose="020B0606030504020204" pitchFamily="34" charset="0"/>
              </a:rPr>
              <a:t>th</a:t>
            </a:r>
            <a:r>
              <a:rPr lang="en-US" dirty="0">
                <a:solidFill>
                  <a:schemeClr val="bg1"/>
                </a:solidFill>
                <a:latin typeface="Open Sans" panose="020B0606030504020204" pitchFamily="34" charset="0"/>
                <a:ea typeface="Open Sans" panose="020B0606030504020204" pitchFamily="34" charset="0"/>
                <a:cs typeface="Open Sans" panose="020B0606030504020204" pitchFamily="34" charset="0"/>
              </a:rPr>
              <a:t> grade students in the bay area.</a:t>
            </a:r>
          </a:p>
        </p:txBody>
      </p:sp>
      <p:pic>
        <p:nvPicPr>
          <p:cNvPr id="5" name="Picture 4">
            <a:extLst>
              <a:ext uri="{FF2B5EF4-FFF2-40B4-BE49-F238E27FC236}">
                <a16:creationId xmlns:a16="http://schemas.microsoft.com/office/drawing/2014/main" id="{96AEF4AE-471F-7F41-B812-72B3D94CE3AC}"/>
              </a:ext>
            </a:extLst>
          </p:cNvPr>
          <p:cNvPicPr>
            <a:picLocks noChangeAspect="1"/>
          </p:cNvPicPr>
          <p:nvPr/>
        </p:nvPicPr>
        <p:blipFill>
          <a:blip r:embed="rId2"/>
          <a:stretch>
            <a:fillRect/>
          </a:stretch>
        </p:blipFill>
        <p:spPr>
          <a:xfrm>
            <a:off x="2356992" y="713268"/>
            <a:ext cx="1067201" cy="1227282"/>
          </a:xfrm>
          <a:prstGeom prst="rect">
            <a:avLst/>
          </a:prstGeom>
        </p:spPr>
      </p:pic>
    </p:spTree>
    <p:extLst>
      <p:ext uri="{BB962C8B-B14F-4D97-AF65-F5344CB8AC3E}">
        <p14:creationId xmlns:p14="http://schemas.microsoft.com/office/powerpoint/2010/main" val="3826635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14CA6BD-DB40-6948-9F30-53E629CD3736}"/>
              </a:ext>
            </a:extLst>
          </p:cNvPr>
          <p:cNvSpPr/>
          <p:nvPr/>
        </p:nvSpPr>
        <p:spPr>
          <a:xfrm>
            <a:off x="0" y="4034409"/>
            <a:ext cx="12192000" cy="233969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6205739B-8AFE-C047-A9B3-F5608B9D7C4D}"/>
              </a:ext>
            </a:extLst>
          </p:cNvPr>
          <p:cNvSpPr>
            <a:spLocks noGrp="1"/>
          </p:cNvSpPr>
          <p:nvPr>
            <p:ph type="ftr" sz="quarter" idx="11"/>
          </p:nvPr>
        </p:nvSpPr>
        <p:spPr/>
        <p:txBody>
          <a:bodyPr/>
          <a:lstStyle/>
          <a:p>
            <a:r>
              <a:rPr lang="en-US" dirty="0"/>
              <a:t>The BASIC Fund is a privately funded 501(c)3 organization based in the San Francisco Bay Area.   </a:t>
            </a:r>
          </a:p>
        </p:txBody>
      </p:sp>
      <p:sp>
        <p:nvSpPr>
          <p:cNvPr id="3" name="Slide Number Placeholder 2">
            <a:extLst>
              <a:ext uri="{FF2B5EF4-FFF2-40B4-BE49-F238E27FC236}">
                <a16:creationId xmlns:a16="http://schemas.microsoft.com/office/drawing/2014/main" id="{9ACC1711-C4F7-AA44-9887-9E893803C878}"/>
              </a:ext>
            </a:extLst>
          </p:cNvPr>
          <p:cNvSpPr>
            <a:spLocks noGrp="1"/>
          </p:cNvSpPr>
          <p:nvPr>
            <p:ph type="sldNum" sz="quarter" idx="12"/>
          </p:nvPr>
        </p:nvSpPr>
        <p:spPr/>
        <p:txBody>
          <a:bodyPr/>
          <a:lstStyle/>
          <a:p>
            <a:fld id="{3A98EE3D-8CD1-4C3F-BD1C-C98C9596463C}" type="slidenum">
              <a:rPr lang="en-US" smtClean="0"/>
              <a:t>11</a:t>
            </a:fld>
            <a:endParaRPr lang="en-US" dirty="0"/>
          </a:p>
        </p:txBody>
      </p:sp>
      <p:sp>
        <p:nvSpPr>
          <p:cNvPr id="5" name="Title 1">
            <a:extLst>
              <a:ext uri="{FF2B5EF4-FFF2-40B4-BE49-F238E27FC236}">
                <a16:creationId xmlns:a16="http://schemas.microsoft.com/office/drawing/2014/main" id="{A0971CC8-74F7-AA43-9EB8-440C362AA9EF}"/>
              </a:ext>
            </a:extLst>
          </p:cNvPr>
          <p:cNvSpPr txBox="1">
            <a:spLocks/>
          </p:cNvSpPr>
          <p:nvPr/>
        </p:nvSpPr>
        <p:spPr>
          <a:xfrm>
            <a:off x="3507586" y="4129087"/>
            <a:ext cx="8137566" cy="201828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a:lstStyle>
          <a:p>
            <a:pPr>
              <a:spcBef>
                <a:spcPts val="600"/>
              </a:spcBef>
            </a:pPr>
            <a:br>
              <a:rPr lang="en-US" sz="2200" dirty="0">
                <a:solidFill>
                  <a:srgbClr val="25316F"/>
                </a:solidFill>
                <a:latin typeface="Open Sans" panose="020B0606030504020204" pitchFamily="34" charset="0"/>
                <a:ea typeface="Open Sans" panose="020B0606030504020204" pitchFamily="34" charset="0"/>
                <a:cs typeface="Open Sans" panose="020B0606030504020204" pitchFamily="34" charset="0"/>
              </a:rPr>
            </a:br>
            <a:r>
              <a:rPr lang="en-US" sz="22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How We Serve</a:t>
            </a:r>
            <a:r>
              <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rPr>
              <a:t>	</a:t>
            </a:r>
          </a:p>
          <a:p>
            <a:pPr>
              <a:spcBef>
                <a:spcPts val="600"/>
              </a:spcBef>
            </a:pPr>
            <a:r>
              <a:rPr lang="en-US" sz="2000" i="1" dirty="0">
                <a:solidFill>
                  <a:srgbClr val="25316F"/>
                </a:solidFill>
                <a:latin typeface="Open Sans" panose="020B0606030504020204" pitchFamily="34" charset="0"/>
                <a:ea typeface="Open Sans" panose="020B0606030504020204" pitchFamily="34" charset="0"/>
                <a:cs typeface="Open Sans" panose="020B0606030504020204" pitchFamily="34" charset="0"/>
              </a:rPr>
              <a:t>“The BASIC Fund is the single most focused, efficient, and productive </a:t>
            </a:r>
            <a:br>
              <a:rPr lang="en-US" sz="2000" i="1" dirty="0">
                <a:solidFill>
                  <a:srgbClr val="25316F"/>
                </a:solidFill>
                <a:latin typeface="Open Sans" panose="020B0606030504020204" pitchFamily="34" charset="0"/>
                <a:ea typeface="Open Sans" panose="020B0606030504020204" pitchFamily="34" charset="0"/>
                <a:cs typeface="Open Sans" panose="020B0606030504020204" pitchFamily="34" charset="0"/>
              </a:rPr>
            </a:br>
            <a:r>
              <a:rPr lang="en-US" sz="2000" i="1" dirty="0">
                <a:solidFill>
                  <a:srgbClr val="25316F"/>
                </a:solidFill>
                <a:latin typeface="Open Sans" panose="020B0606030504020204" pitchFamily="34" charset="0"/>
                <a:ea typeface="Open Sans" panose="020B0606030504020204" pitchFamily="34" charset="0"/>
                <a:cs typeface="Open Sans" panose="020B0606030504020204" pitchFamily="34" charset="0"/>
              </a:rPr>
              <a:t> non-profit that I’ve ever been associated with.”</a:t>
            </a:r>
          </a:p>
          <a:p>
            <a:pPr>
              <a:spcBef>
                <a:spcPts val="600"/>
              </a:spcBef>
            </a:pPr>
            <a:r>
              <a:rPr lang="en-US" sz="1100" dirty="0">
                <a:solidFill>
                  <a:srgbClr val="25316F"/>
                </a:solidFill>
                <a:latin typeface="Open Sans" panose="020B0606030504020204" pitchFamily="34" charset="0"/>
                <a:ea typeface="Open Sans" panose="020B0606030504020204" pitchFamily="34" charset="0"/>
                <a:cs typeface="Open Sans" panose="020B0606030504020204" pitchFamily="34" charset="0"/>
              </a:rPr>
              <a:t>- James H. Herbert II, CEO, First Republic Bank; BASIC Fund Director</a:t>
            </a:r>
          </a:p>
          <a:p>
            <a:pPr>
              <a:spcBef>
                <a:spcPts val="600"/>
              </a:spcBef>
            </a:pPr>
            <a:endPar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endParaRPr>
          </a:p>
          <a:p>
            <a:pPr>
              <a:spcBef>
                <a:spcPts val="600"/>
              </a:spcBef>
            </a:pPr>
            <a:r>
              <a:rPr lang="en-US" sz="24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100% </a:t>
            </a: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of the BASIC Fund’s overhead and administrative costs are covered by the Board of Directors.</a:t>
            </a:r>
            <a:br>
              <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rPr>
            </a:br>
            <a:endPar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6" name="Chart 5">
            <a:extLst>
              <a:ext uri="{FF2B5EF4-FFF2-40B4-BE49-F238E27FC236}">
                <a16:creationId xmlns:a16="http://schemas.microsoft.com/office/drawing/2014/main" id="{E474158B-FC32-DB4E-92EE-B797D6F0C62D}"/>
              </a:ext>
            </a:extLst>
          </p:cNvPr>
          <p:cNvGraphicFramePr/>
          <p:nvPr>
            <p:extLst>
              <p:ext uri="{D42A27DB-BD31-4B8C-83A1-F6EECF244321}">
                <p14:modId xmlns:p14="http://schemas.microsoft.com/office/powerpoint/2010/main" val="2158105090"/>
              </p:ext>
            </p:extLst>
          </p:nvPr>
        </p:nvGraphicFramePr>
        <p:xfrm>
          <a:off x="318051" y="864520"/>
          <a:ext cx="5278546" cy="2780854"/>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6">
            <a:extLst>
              <a:ext uri="{FF2B5EF4-FFF2-40B4-BE49-F238E27FC236}">
                <a16:creationId xmlns:a16="http://schemas.microsoft.com/office/drawing/2014/main" id="{DD458FC9-F00A-E043-BE77-95192DF5C9FE}"/>
              </a:ext>
            </a:extLst>
          </p:cNvPr>
          <p:cNvSpPr/>
          <p:nvPr/>
        </p:nvSpPr>
        <p:spPr>
          <a:xfrm>
            <a:off x="1022340" y="476497"/>
            <a:ext cx="2176365" cy="430887"/>
          </a:xfrm>
          <a:prstGeom prst="rect">
            <a:avLst/>
          </a:prstGeom>
        </p:spPr>
        <p:txBody>
          <a:bodyPr wrap="none">
            <a:spAutoFit/>
          </a:bodyPr>
          <a:lstStyle/>
          <a:p>
            <a:pPr>
              <a:spcBef>
                <a:spcPts val="600"/>
              </a:spcBef>
            </a:pPr>
            <a:r>
              <a:rPr lang="en-US" sz="22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Who We Serve</a:t>
            </a:r>
          </a:p>
        </p:txBody>
      </p:sp>
      <p:graphicFrame>
        <p:nvGraphicFramePr>
          <p:cNvPr id="8" name="Chart 7">
            <a:extLst>
              <a:ext uri="{FF2B5EF4-FFF2-40B4-BE49-F238E27FC236}">
                <a16:creationId xmlns:a16="http://schemas.microsoft.com/office/drawing/2014/main" id="{0F0334BB-5AA4-1545-8F1A-37FA7E42F833}"/>
              </a:ext>
            </a:extLst>
          </p:cNvPr>
          <p:cNvGraphicFramePr/>
          <p:nvPr>
            <p:extLst>
              <p:ext uri="{D42A27DB-BD31-4B8C-83A1-F6EECF244321}">
                <p14:modId xmlns:p14="http://schemas.microsoft.com/office/powerpoint/2010/main" val="3121259712"/>
              </p:ext>
            </p:extLst>
          </p:nvPr>
        </p:nvGraphicFramePr>
        <p:xfrm>
          <a:off x="6096000" y="864520"/>
          <a:ext cx="5278546" cy="2780854"/>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762343AF-B04D-584D-A22F-158E2AB35766}"/>
              </a:ext>
            </a:extLst>
          </p:cNvPr>
          <p:cNvSpPr/>
          <p:nvPr/>
        </p:nvSpPr>
        <p:spPr>
          <a:xfrm>
            <a:off x="6799659" y="476497"/>
            <a:ext cx="2457660" cy="430887"/>
          </a:xfrm>
          <a:prstGeom prst="rect">
            <a:avLst/>
          </a:prstGeom>
        </p:spPr>
        <p:txBody>
          <a:bodyPr wrap="none">
            <a:spAutoFit/>
          </a:bodyPr>
          <a:lstStyle/>
          <a:p>
            <a:pPr>
              <a:spcBef>
                <a:spcPts val="600"/>
              </a:spcBef>
            </a:pPr>
            <a:r>
              <a:rPr lang="en-US" sz="22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Where We Serve</a:t>
            </a:r>
          </a:p>
        </p:txBody>
      </p:sp>
      <p:pic>
        <p:nvPicPr>
          <p:cNvPr id="13" name="Picture 12">
            <a:extLst>
              <a:ext uri="{FF2B5EF4-FFF2-40B4-BE49-F238E27FC236}">
                <a16:creationId xmlns:a16="http://schemas.microsoft.com/office/drawing/2014/main" id="{1821EE5D-1D63-FB4E-B0D4-FB668318D6D2}"/>
              </a:ext>
            </a:extLst>
          </p:cNvPr>
          <p:cNvPicPr>
            <a:picLocks noChangeAspect="1"/>
          </p:cNvPicPr>
          <p:nvPr/>
        </p:nvPicPr>
        <p:blipFill>
          <a:blip r:embed="rId4"/>
          <a:stretch>
            <a:fillRect/>
          </a:stretch>
        </p:blipFill>
        <p:spPr>
          <a:xfrm>
            <a:off x="2118991" y="4264696"/>
            <a:ext cx="1208575" cy="1208575"/>
          </a:xfrm>
          <a:prstGeom prst="rect">
            <a:avLst/>
          </a:prstGeom>
        </p:spPr>
      </p:pic>
    </p:spTree>
    <p:extLst>
      <p:ext uri="{BB962C8B-B14F-4D97-AF65-F5344CB8AC3E}">
        <p14:creationId xmlns:p14="http://schemas.microsoft.com/office/powerpoint/2010/main" val="2350829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8A78AF-A6D4-ED4C-BD80-C689611A1A11}"/>
              </a:ext>
            </a:extLst>
          </p:cNvPr>
          <p:cNvSpPr>
            <a:spLocks noGrp="1"/>
          </p:cNvSpPr>
          <p:nvPr>
            <p:ph type="ftr" sz="quarter" idx="11"/>
          </p:nvPr>
        </p:nvSpPr>
        <p:spPr>
          <a:xfrm>
            <a:off x="1097279" y="6446838"/>
            <a:ext cx="9698100" cy="365125"/>
          </a:xfrm>
        </p:spPr>
        <p:txBody>
          <a:bodyPr/>
          <a:lstStyle/>
          <a:p>
            <a:r>
              <a:rPr lang="en-US" dirty="0"/>
              <a:t>The BASIC Fund is a privately funded 501(c)3 organization based in the San Francisco Bay Area.   </a:t>
            </a:r>
          </a:p>
        </p:txBody>
      </p:sp>
      <p:sp>
        <p:nvSpPr>
          <p:cNvPr id="3" name="Slide Number Placeholder 2">
            <a:extLst>
              <a:ext uri="{FF2B5EF4-FFF2-40B4-BE49-F238E27FC236}">
                <a16:creationId xmlns:a16="http://schemas.microsoft.com/office/drawing/2014/main" id="{7152C4BF-99F3-5243-BA3C-5CF4639946E7}"/>
              </a:ext>
            </a:extLst>
          </p:cNvPr>
          <p:cNvSpPr>
            <a:spLocks noGrp="1"/>
          </p:cNvSpPr>
          <p:nvPr>
            <p:ph type="sldNum" sz="quarter" idx="12"/>
          </p:nvPr>
        </p:nvSpPr>
        <p:spPr/>
        <p:txBody>
          <a:bodyPr/>
          <a:lstStyle/>
          <a:p>
            <a:fld id="{3A98EE3D-8CD1-4C3F-BD1C-C98C9596463C}" type="slidenum">
              <a:rPr lang="en-US" smtClean="0"/>
              <a:t>12</a:t>
            </a:fld>
            <a:endParaRPr lang="en-US" dirty="0"/>
          </a:p>
        </p:txBody>
      </p:sp>
      <p:sp>
        <p:nvSpPr>
          <p:cNvPr id="5" name="Title 1">
            <a:extLst>
              <a:ext uri="{FF2B5EF4-FFF2-40B4-BE49-F238E27FC236}">
                <a16:creationId xmlns:a16="http://schemas.microsoft.com/office/drawing/2014/main" id="{217515DE-E4DB-B24E-9C21-601886A90E65}"/>
              </a:ext>
            </a:extLst>
          </p:cNvPr>
          <p:cNvSpPr txBox="1">
            <a:spLocks/>
          </p:cNvSpPr>
          <p:nvPr/>
        </p:nvSpPr>
        <p:spPr>
          <a:xfrm>
            <a:off x="631805" y="442758"/>
            <a:ext cx="5931502" cy="2681110"/>
          </a:xfrm>
          <a:prstGeom prst="rect">
            <a:avLst/>
          </a:prstGeom>
        </p:spPr>
        <p:txBody>
          <a:bodyPr vert="horz" wrap="square" lIns="0" tIns="45720" rIns="91440" bIns="45720" numCol="1" rtlCol="0" anchor="ctr" anchorCtr="0">
            <a:noAutofit/>
          </a:bodyPr>
          <a:lstStyle>
            <a:lvl1pPr algn="l" defTabSz="914400" rtl="0" eaLnBrk="1" latinLnBrk="0" hangingPunct="1">
              <a:lnSpc>
                <a:spcPct val="90000"/>
              </a:lnSpc>
              <a:spcBef>
                <a:spcPct val="0"/>
              </a:spcBef>
              <a:buNone/>
              <a:defRPr sz="8000" kern="1200" spc="-50" baseline="0">
                <a:solidFill>
                  <a:schemeClr val="tx1">
                    <a:lumMod val="85000"/>
                    <a:lumOff val="15000"/>
                  </a:schemeClr>
                </a:solidFill>
                <a:latin typeface="+mj-lt"/>
                <a:ea typeface="+mj-ea"/>
                <a:cs typeface="+mj-cs"/>
              </a:defRPr>
            </a:lvl1pPr>
          </a:lstStyle>
          <a:p>
            <a:pPr>
              <a:lnSpc>
                <a:spcPct val="120000"/>
              </a:lnSpc>
              <a:spcBef>
                <a:spcPts val="1200"/>
              </a:spcBef>
              <a:tabLst>
                <a:tab pos="6746875" algn="r"/>
              </a:tabLst>
            </a:pPr>
            <a:r>
              <a:rPr lang="en-US" sz="24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How BASIC Fund Scholarships Work</a:t>
            </a:r>
          </a:p>
          <a:p>
            <a:pPr>
              <a:lnSpc>
                <a:spcPct val="120000"/>
              </a:lnSpc>
              <a:spcBef>
                <a:spcPts val="1200"/>
              </a:spcBef>
              <a:tabLst>
                <a:tab pos="6746875" algn="r"/>
              </a:tabLst>
            </a:pPr>
            <a:r>
              <a:rPr lang="en-US" sz="14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School Agnostic: </a:t>
            </a: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Family requests tuition aid for </a:t>
            </a:r>
            <a:b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b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                                  private school of their choice</a:t>
            </a:r>
          </a:p>
          <a:p>
            <a:pPr>
              <a:lnSpc>
                <a:spcPct val="120000"/>
              </a:lnSpc>
              <a:spcBef>
                <a:spcPts val="1200"/>
              </a:spcBef>
              <a:tabLst>
                <a:tab pos="6746875" algn="r"/>
              </a:tabLst>
            </a:pPr>
            <a:r>
              <a:rPr lang="en-US" sz="14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Needs Based:      </a:t>
            </a: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Dependent only on Family Household earnings, </a:t>
            </a:r>
            <a:b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b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                                  average Household income &lt;$38,000 annually</a:t>
            </a:r>
          </a:p>
        </p:txBody>
      </p:sp>
      <p:sp>
        <p:nvSpPr>
          <p:cNvPr id="7" name="Rectangle 6">
            <a:extLst>
              <a:ext uri="{FF2B5EF4-FFF2-40B4-BE49-F238E27FC236}">
                <a16:creationId xmlns:a16="http://schemas.microsoft.com/office/drawing/2014/main" id="{EF7B9B64-EABF-F14D-9284-F6219E0DF6C2}"/>
              </a:ext>
            </a:extLst>
          </p:cNvPr>
          <p:cNvSpPr/>
          <p:nvPr/>
        </p:nvSpPr>
        <p:spPr>
          <a:xfrm>
            <a:off x="631805" y="3047336"/>
            <a:ext cx="5048559" cy="2240806"/>
          </a:xfrm>
          <a:prstGeom prst="rect">
            <a:avLst/>
          </a:prstGeom>
        </p:spPr>
        <p:txBody>
          <a:bodyPr wrap="square">
            <a:spAutoFit/>
          </a:bodyPr>
          <a:lstStyle/>
          <a:p>
            <a:pPr marL="285750" indent="-285750">
              <a:lnSpc>
                <a:spcPct val="120000"/>
              </a:lnSpc>
              <a:spcBef>
                <a:spcPts val="1200"/>
              </a:spcBef>
              <a:buClr>
                <a:srgbClr val="25316F"/>
              </a:buClr>
              <a:buFont typeface="Arial" panose="020B0604020202020204" pitchFamily="34" charset="0"/>
              <a:buChar char="•"/>
              <a:tabLst>
                <a:tab pos="6746875" algn="r"/>
              </a:tabLst>
            </a:pP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Require Family Buy-In	</a:t>
            </a:r>
          </a:p>
          <a:p>
            <a:pPr marL="285750" indent="-285750">
              <a:lnSpc>
                <a:spcPct val="120000"/>
              </a:lnSpc>
              <a:spcBef>
                <a:spcPts val="1200"/>
              </a:spcBef>
              <a:buClr>
                <a:srgbClr val="25316F"/>
              </a:buClr>
              <a:buFont typeface="Arial" panose="020B0604020202020204" pitchFamily="34" charset="0"/>
              <a:buChar char="•"/>
              <a:tabLst>
                <a:tab pos="6746875" algn="r"/>
              </a:tabLst>
            </a:pP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Families must participate in paying part of tuition</a:t>
            </a:r>
            <a:b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b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Provide Stability 	</a:t>
            </a:r>
          </a:p>
          <a:p>
            <a:pPr marL="285750" indent="-285750">
              <a:lnSpc>
                <a:spcPct val="120000"/>
              </a:lnSpc>
              <a:spcBef>
                <a:spcPts val="1200"/>
              </a:spcBef>
              <a:buClr>
                <a:srgbClr val="25316F"/>
              </a:buClr>
              <a:buFont typeface="Arial" panose="020B0604020202020204" pitchFamily="34" charset="0"/>
              <a:buChar char="•"/>
              <a:tabLst>
                <a:tab pos="6746875" algn="r"/>
              </a:tabLst>
            </a:pP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Scholarships are guaranteed through 8th grade</a:t>
            </a:r>
          </a:p>
          <a:p>
            <a:pPr marL="285750" indent="-285750">
              <a:lnSpc>
                <a:spcPct val="120000"/>
              </a:lnSpc>
              <a:spcBef>
                <a:spcPts val="1200"/>
              </a:spcBef>
              <a:buClr>
                <a:srgbClr val="25316F"/>
              </a:buClr>
              <a:buFont typeface="Arial" panose="020B0604020202020204" pitchFamily="34" charset="0"/>
              <a:buChar char="•"/>
              <a:tabLst>
                <a:tab pos="6746875" algn="r"/>
              </a:tabLst>
            </a:pP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Accessible	</a:t>
            </a:r>
          </a:p>
          <a:p>
            <a:pPr marL="285750" indent="-285750">
              <a:lnSpc>
                <a:spcPct val="120000"/>
              </a:lnSpc>
              <a:spcBef>
                <a:spcPts val="1200"/>
              </a:spcBef>
              <a:buClr>
                <a:srgbClr val="25316F"/>
              </a:buClr>
              <a:buFont typeface="Arial" panose="020B0604020202020204" pitchFamily="34" charset="0"/>
              <a:buChar char="•"/>
              <a:tabLst>
                <a:tab pos="6746875" algn="r"/>
              </a:tabLst>
            </a:pP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Simple bilingual application, no testing, no fees</a:t>
            </a:r>
          </a:p>
        </p:txBody>
      </p:sp>
      <p:pic>
        <p:nvPicPr>
          <p:cNvPr id="12" name="Picture 11" descr="A group of people walking down a sidewalk&#10;&#10;Description automatically generated with low confidence">
            <a:extLst>
              <a:ext uri="{FF2B5EF4-FFF2-40B4-BE49-F238E27FC236}">
                <a16:creationId xmlns:a16="http://schemas.microsoft.com/office/drawing/2014/main" id="{E48D32D0-4595-DB41-A15A-F4645D2F65D8}"/>
              </a:ext>
            </a:extLst>
          </p:cNvPr>
          <p:cNvPicPr>
            <a:picLocks noChangeAspect="1"/>
          </p:cNvPicPr>
          <p:nvPr/>
        </p:nvPicPr>
        <p:blipFill rotWithShape="1">
          <a:blip r:embed="rId2">
            <a:extLst>
              <a:ext uri="{28A0092B-C50C-407E-A947-70E740481C1C}">
                <a14:useLocalDpi xmlns:a14="http://schemas.microsoft.com/office/drawing/2010/main" val="0"/>
              </a:ext>
            </a:extLst>
          </a:blip>
          <a:srcRect l="39405" t="4099" r="3342" b="3098"/>
          <a:stretch/>
        </p:blipFill>
        <p:spPr>
          <a:xfrm>
            <a:off x="6260498" y="-1"/>
            <a:ext cx="5931502" cy="6415243"/>
          </a:xfrm>
          <a:prstGeom prst="rect">
            <a:avLst/>
          </a:prstGeom>
        </p:spPr>
      </p:pic>
    </p:spTree>
    <p:extLst>
      <p:ext uri="{BB962C8B-B14F-4D97-AF65-F5344CB8AC3E}">
        <p14:creationId xmlns:p14="http://schemas.microsoft.com/office/powerpoint/2010/main" val="1845056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person, child, little, child&#10;&#10;Description automatically generated">
            <a:extLst>
              <a:ext uri="{FF2B5EF4-FFF2-40B4-BE49-F238E27FC236}">
                <a16:creationId xmlns:a16="http://schemas.microsoft.com/office/drawing/2014/main" id="{F1291BAC-4FE5-BE40-AB04-952C1130770A}"/>
              </a:ext>
            </a:extLst>
          </p:cNvPr>
          <p:cNvPicPr>
            <a:picLocks noChangeAspect="1"/>
          </p:cNvPicPr>
          <p:nvPr/>
        </p:nvPicPr>
        <p:blipFill rotWithShape="1">
          <a:blip r:embed="rId3">
            <a:extLst>
              <a:ext uri="{28A0092B-C50C-407E-A947-70E740481C1C}">
                <a14:useLocalDpi xmlns:a14="http://schemas.microsoft.com/office/drawing/2010/main" val="0"/>
              </a:ext>
            </a:extLst>
          </a:blip>
          <a:srcRect l="30559" t="1" r="11870" b="9813"/>
          <a:stretch/>
        </p:blipFill>
        <p:spPr>
          <a:xfrm>
            <a:off x="-203200" y="-33454"/>
            <a:ext cx="6149529" cy="6427530"/>
          </a:xfrm>
          <a:prstGeom prst="rect">
            <a:avLst/>
          </a:prstGeom>
        </p:spPr>
      </p:pic>
      <p:sp>
        <p:nvSpPr>
          <p:cNvPr id="2" name="Footer Placeholder 1">
            <a:extLst>
              <a:ext uri="{FF2B5EF4-FFF2-40B4-BE49-F238E27FC236}">
                <a16:creationId xmlns:a16="http://schemas.microsoft.com/office/drawing/2014/main" id="{DA8A78AF-A6D4-ED4C-BD80-C689611A1A11}"/>
              </a:ext>
            </a:extLst>
          </p:cNvPr>
          <p:cNvSpPr>
            <a:spLocks noGrp="1"/>
          </p:cNvSpPr>
          <p:nvPr>
            <p:ph type="ftr" sz="quarter" idx="11"/>
          </p:nvPr>
        </p:nvSpPr>
        <p:spPr>
          <a:xfrm>
            <a:off x="1097279" y="6446838"/>
            <a:ext cx="9698100" cy="365125"/>
          </a:xfrm>
        </p:spPr>
        <p:txBody>
          <a:bodyPr/>
          <a:lstStyle/>
          <a:p>
            <a:r>
              <a:rPr lang="en-US" dirty="0"/>
              <a:t>The BASIC Fund is a privately funded 501(c)3 organization based in the San Francisco Bay Area.   </a:t>
            </a:r>
          </a:p>
        </p:txBody>
      </p:sp>
      <p:sp>
        <p:nvSpPr>
          <p:cNvPr id="3" name="Slide Number Placeholder 2">
            <a:extLst>
              <a:ext uri="{FF2B5EF4-FFF2-40B4-BE49-F238E27FC236}">
                <a16:creationId xmlns:a16="http://schemas.microsoft.com/office/drawing/2014/main" id="{7152C4BF-99F3-5243-BA3C-5CF4639946E7}"/>
              </a:ext>
            </a:extLst>
          </p:cNvPr>
          <p:cNvSpPr>
            <a:spLocks noGrp="1"/>
          </p:cNvSpPr>
          <p:nvPr>
            <p:ph type="sldNum" sz="quarter" idx="12"/>
          </p:nvPr>
        </p:nvSpPr>
        <p:spPr/>
        <p:txBody>
          <a:bodyPr/>
          <a:lstStyle/>
          <a:p>
            <a:fld id="{3A98EE3D-8CD1-4C3F-BD1C-C98C9596463C}" type="slidenum">
              <a:rPr lang="en-US" smtClean="0"/>
              <a:t>13</a:t>
            </a:fld>
            <a:endParaRPr lang="en-US" dirty="0"/>
          </a:p>
        </p:txBody>
      </p:sp>
      <p:sp>
        <p:nvSpPr>
          <p:cNvPr id="4" name="Title 1">
            <a:extLst>
              <a:ext uri="{FF2B5EF4-FFF2-40B4-BE49-F238E27FC236}">
                <a16:creationId xmlns:a16="http://schemas.microsoft.com/office/drawing/2014/main" id="{D37D8386-60FE-1643-8D7C-4ED7D0785C57}"/>
              </a:ext>
            </a:extLst>
          </p:cNvPr>
          <p:cNvSpPr txBox="1">
            <a:spLocks/>
          </p:cNvSpPr>
          <p:nvPr/>
        </p:nvSpPr>
        <p:spPr>
          <a:xfrm>
            <a:off x="6345382" y="46037"/>
            <a:ext cx="5271655" cy="619339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a:lstStyle>
          <a:p>
            <a:pPr>
              <a:lnSpc>
                <a:spcPct val="100000"/>
              </a:lnSpc>
              <a:spcBef>
                <a:spcPts val="600"/>
              </a:spcBef>
              <a:tabLst>
                <a:tab pos="6746875" algn="r"/>
              </a:tabLst>
            </a:pPr>
            <a:br>
              <a:rPr lang="en-US" sz="2200" b="1" dirty="0">
                <a:solidFill>
                  <a:srgbClr val="25316F"/>
                </a:solidFill>
                <a:latin typeface="Open Sans" panose="020B0606030504020204" pitchFamily="34" charset="0"/>
                <a:ea typeface="Open Sans" panose="020B0606030504020204" pitchFamily="34" charset="0"/>
                <a:cs typeface="Open Sans" panose="020B0606030504020204" pitchFamily="34" charset="0"/>
              </a:rPr>
            </a:br>
            <a:r>
              <a:rPr lang="en-US" sz="22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                                                                                  Early Intervention Is Key</a:t>
            </a:r>
          </a:p>
          <a:p>
            <a:pPr>
              <a:lnSpc>
                <a:spcPct val="100000"/>
              </a:lnSpc>
              <a:spcBef>
                <a:spcPts val="600"/>
              </a:spcBef>
              <a:tabLst>
                <a:tab pos="6746875" algn="r"/>
              </a:tabLst>
            </a:pP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By providing support early in students’ lives, they learn more than academics. Discipline, high standards, accountability and ethics lead to long-term success.</a:t>
            </a:r>
          </a:p>
          <a:p>
            <a:pPr>
              <a:lnSpc>
                <a:spcPct val="100000"/>
              </a:lnSpc>
              <a:spcBef>
                <a:spcPts val="600"/>
              </a:spcBef>
              <a:tabLst>
                <a:tab pos="6746875" algn="r"/>
              </a:tabLst>
            </a:pPr>
            <a:endPar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endParaRPr>
          </a:p>
          <a:p>
            <a:pPr>
              <a:lnSpc>
                <a:spcPct val="100000"/>
              </a:lnSpc>
              <a:spcBef>
                <a:spcPts val="600"/>
              </a:spcBef>
              <a:tabLst>
                <a:tab pos="6746875" algn="r"/>
              </a:tabLst>
            </a:pPr>
            <a:r>
              <a:rPr lang="en-US" sz="22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ROI</a:t>
            </a:r>
          </a:p>
          <a:p>
            <a:pPr>
              <a:lnSpc>
                <a:spcPct val="100000"/>
              </a:lnSpc>
              <a:spcBef>
                <a:spcPts val="600"/>
              </a:spcBef>
              <a:tabLst>
                <a:tab pos="6746875" algn="r"/>
              </a:tabLst>
            </a:pPr>
            <a:r>
              <a:rPr lang="en-US" sz="18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98% of our students graduate high school, </a:t>
            </a: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compared to low-income students with public high school graduation rates of 62% in Oakland, 70% in Vallejo and 72% </a:t>
            </a:r>
            <a:b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b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in San Francisco.</a:t>
            </a:r>
            <a:b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br>
            <a:b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br>
            <a:r>
              <a:rPr lang="en-US" sz="18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92% of BASIC Fund students go on to college </a:t>
            </a: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compared to fewer than 50% for graduates of Bay Area public high schools.</a:t>
            </a:r>
            <a:b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br>
            <a:b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b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BASIC Fund students </a:t>
            </a:r>
            <a:r>
              <a:rPr lang="en-US" sz="18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do not fall through the cracks.</a:t>
            </a:r>
            <a:b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br>
            <a:r>
              <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rPr>
              <a:t> </a:t>
            </a:r>
            <a:br>
              <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rPr>
            </a:br>
            <a:endPar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0722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AE3D6C3-0931-D741-9CF5-BF6FC6EF9B68}"/>
              </a:ext>
            </a:extLst>
          </p:cNvPr>
          <p:cNvSpPr/>
          <p:nvPr/>
        </p:nvSpPr>
        <p:spPr>
          <a:xfrm>
            <a:off x="5869007" y="-44496"/>
            <a:ext cx="6419851" cy="6491333"/>
          </a:xfrm>
          <a:prstGeom prst="rect">
            <a:avLst/>
          </a:prstGeom>
          <a:solidFill>
            <a:srgbClr val="2531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9451F42A-52CC-A348-AD8A-6C8B1924AFF9}"/>
              </a:ext>
            </a:extLst>
          </p:cNvPr>
          <p:cNvSpPr>
            <a:spLocks noGrp="1"/>
          </p:cNvSpPr>
          <p:nvPr>
            <p:ph type="ftr" sz="quarter" idx="11"/>
          </p:nvPr>
        </p:nvSpPr>
        <p:spPr/>
        <p:txBody>
          <a:bodyPr/>
          <a:lstStyle/>
          <a:p>
            <a:r>
              <a:rPr lang="en-US" dirty="0"/>
              <a:t>The BASIC Fund is a privately funded 501(c)3 organization based in the San Francisco Bay Area.   </a:t>
            </a:r>
          </a:p>
        </p:txBody>
      </p:sp>
      <p:sp>
        <p:nvSpPr>
          <p:cNvPr id="3" name="Slide Number Placeholder 2">
            <a:extLst>
              <a:ext uri="{FF2B5EF4-FFF2-40B4-BE49-F238E27FC236}">
                <a16:creationId xmlns:a16="http://schemas.microsoft.com/office/drawing/2014/main" id="{435A3D5B-1EDE-0C4A-A4C4-39DDA426B707}"/>
              </a:ext>
            </a:extLst>
          </p:cNvPr>
          <p:cNvSpPr>
            <a:spLocks noGrp="1"/>
          </p:cNvSpPr>
          <p:nvPr>
            <p:ph type="sldNum" sz="quarter" idx="12"/>
          </p:nvPr>
        </p:nvSpPr>
        <p:spPr/>
        <p:txBody>
          <a:bodyPr/>
          <a:lstStyle/>
          <a:p>
            <a:fld id="{3A98EE3D-8CD1-4C3F-BD1C-C98C9596463C}" type="slidenum">
              <a:rPr lang="en-US" smtClean="0"/>
              <a:t>14</a:t>
            </a:fld>
            <a:endParaRPr lang="en-US" dirty="0"/>
          </a:p>
        </p:txBody>
      </p:sp>
      <p:sp>
        <p:nvSpPr>
          <p:cNvPr id="4" name="Subtitle 2">
            <a:extLst>
              <a:ext uri="{FF2B5EF4-FFF2-40B4-BE49-F238E27FC236}">
                <a16:creationId xmlns:a16="http://schemas.microsoft.com/office/drawing/2014/main" id="{50FB1B6D-08DB-A141-A485-E678C1DC0536}"/>
              </a:ext>
            </a:extLst>
          </p:cNvPr>
          <p:cNvSpPr txBox="1">
            <a:spLocks/>
          </p:cNvSpPr>
          <p:nvPr/>
        </p:nvSpPr>
        <p:spPr>
          <a:xfrm>
            <a:off x="565440" y="1193213"/>
            <a:ext cx="4643437" cy="4471574"/>
          </a:xfrm>
          <a:prstGeom prst="rect">
            <a:avLst/>
          </a:prstGeom>
        </p:spPr>
        <p:txBody>
          <a:bodyPr vert="horz" lIns="0" tIns="45720" rIns="0" bIns="45720" rtlCol="0" anchor="ctr">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90000"/>
              </a:lnSpc>
            </a:pPr>
            <a:r>
              <a:rPr lang="en-US" sz="24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CURRENT School year</a:t>
            </a:r>
          </a:p>
          <a:p>
            <a:pPr>
              <a:lnSpc>
                <a:spcPct val="90000"/>
              </a:lnSpc>
            </a:pPr>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3,375</a:t>
            </a:r>
            <a:r>
              <a:rPr lang="en-US" sz="1800" dirty="0">
                <a:solidFill>
                  <a:srgbClr val="25316F"/>
                </a:solidFill>
                <a:latin typeface="Open Sans" panose="020B0606030504020204" pitchFamily="34" charset="0"/>
                <a:ea typeface="Open Sans" panose="020B0606030504020204" pitchFamily="34" charset="0"/>
                <a:cs typeface="Open Sans" panose="020B0606030504020204" pitchFamily="34" charset="0"/>
              </a:rPr>
              <a:t>   Student scholarships </a:t>
            </a:r>
          </a:p>
          <a:p>
            <a:pPr>
              <a:lnSpc>
                <a:spcPct val="90000"/>
              </a:lnSpc>
            </a:pPr>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819 </a:t>
            </a:r>
            <a:r>
              <a:rPr lang="en-US" sz="1800" dirty="0">
                <a:solidFill>
                  <a:srgbClr val="25316F"/>
                </a:solidFill>
                <a:latin typeface="Open Sans" panose="020B0606030504020204" pitchFamily="34" charset="0"/>
                <a:ea typeface="Open Sans" panose="020B0606030504020204" pitchFamily="34" charset="0"/>
                <a:cs typeface="Open Sans" panose="020B0606030504020204" pitchFamily="34" charset="0"/>
              </a:rPr>
              <a:t>  New students funded</a:t>
            </a:r>
          </a:p>
          <a:p>
            <a:pPr>
              <a:lnSpc>
                <a:spcPct val="90000"/>
              </a:lnSpc>
            </a:pPr>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246  </a:t>
            </a:r>
            <a:r>
              <a:rPr lang="en-US" sz="1800" dirty="0">
                <a:solidFill>
                  <a:srgbClr val="25316F"/>
                </a:solidFill>
                <a:latin typeface="Open Sans" panose="020B0606030504020204" pitchFamily="34" charset="0"/>
                <a:ea typeface="Open Sans" panose="020B0606030504020204" pitchFamily="34" charset="0"/>
                <a:cs typeface="Open Sans" panose="020B0606030504020204" pitchFamily="34" charset="0"/>
              </a:rPr>
              <a:t> different schools</a:t>
            </a:r>
          </a:p>
          <a:p>
            <a:pPr>
              <a:lnSpc>
                <a:spcPct val="90000"/>
              </a:lnSpc>
            </a:pPr>
            <a:r>
              <a:rPr lang="en-US" b="1" dirty="0">
                <a:solidFill>
                  <a:srgbClr val="25316F"/>
                </a:solidFill>
                <a:latin typeface="Open Sans" panose="020B0606030504020204" pitchFamily="34" charset="0"/>
                <a:ea typeface="Open Sans" panose="020B0606030504020204" pitchFamily="34" charset="0"/>
                <a:cs typeface="Open Sans" panose="020B0606030504020204" pitchFamily="34" charset="0"/>
              </a:rPr>
              <a:t>357 </a:t>
            </a:r>
            <a:r>
              <a:rPr lang="en-US" sz="1800" dirty="0">
                <a:solidFill>
                  <a:srgbClr val="25316F"/>
                </a:solidFill>
                <a:latin typeface="Open Sans" panose="020B0606030504020204" pitchFamily="34" charset="0"/>
                <a:ea typeface="Open Sans" panose="020B0606030504020204" pitchFamily="34" charset="0"/>
                <a:cs typeface="Open Sans" panose="020B0606030504020204" pitchFamily="34" charset="0"/>
              </a:rPr>
              <a:t>  graduates of 8th grade</a:t>
            </a:r>
          </a:p>
          <a:p>
            <a:pPr>
              <a:lnSpc>
                <a:spcPct val="90000"/>
              </a:lnSpc>
            </a:pPr>
            <a:endParaRPr lang="en-US" sz="1800" dirty="0">
              <a:solidFill>
                <a:srgbClr val="25316F"/>
              </a:solidFill>
              <a:latin typeface="Open Sans" panose="020B0606030504020204" pitchFamily="34" charset="0"/>
              <a:ea typeface="Open Sans" panose="020B0606030504020204" pitchFamily="34" charset="0"/>
              <a:cs typeface="Open Sans" panose="020B0606030504020204" pitchFamily="34" charset="0"/>
            </a:endParaRPr>
          </a:p>
          <a:p>
            <a:pPr>
              <a:lnSpc>
                <a:spcPct val="90000"/>
              </a:lnSpc>
            </a:pPr>
            <a:r>
              <a:rPr lang="en-US" sz="24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Scholarship Funding</a:t>
            </a:r>
          </a:p>
          <a:p>
            <a:pPr>
              <a:lnSpc>
                <a:spcPct val="90000"/>
              </a:lnSpc>
            </a:pP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Funding for each students’ entire tenure with the BASIC Fund is put into reserves when the student begins our program. Annually, new funds raised are earmarked for the new students joining our program.</a:t>
            </a:r>
          </a:p>
          <a:p>
            <a:pPr>
              <a:lnSpc>
                <a:spcPct val="90000"/>
              </a:lnSpc>
            </a:pPr>
            <a:endParaRPr lang="en-US" sz="1800" dirty="0">
              <a:solidFill>
                <a:srgbClr val="25316F"/>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4137EDFA-AF35-4F4E-948D-12A629624AEC}"/>
              </a:ext>
            </a:extLst>
          </p:cNvPr>
          <p:cNvPicPr>
            <a:picLocks noChangeAspect="1"/>
          </p:cNvPicPr>
          <p:nvPr/>
        </p:nvPicPr>
        <p:blipFill rotWithShape="1">
          <a:blip r:embed="rId2">
            <a:alphaModFix amt="20000"/>
            <a:extLst>
              <a:ext uri="{28A0092B-C50C-407E-A947-70E740481C1C}">
                <a14:useLocalDpi xmlns:a14="http://schemas.microsoft.com/office/drawing/2010/main" val="0"/>
              </a:ext>
            </a:extLst>
          </a:blip>
          <a:srcRect l="31988" t="20415" r="15170"/>
          <a:stretch/>
        </p:blipFill>
        <p:spPr>
          <a:xfrm>
            <a:off x="5869007" y="-44496"/>
            <a:ext cx="6419850" cy="6446838"/>
          </a:xfrm>
          <a:prstGeom prst="rect">
            <a:avLst/>
          </a:prstGeom>
        </p:spPr>
      </p:pic>
      <p:pic>
        <p:nvPicPr>
          <p:cNvPr id="7" name="Picture 6">
            <a:extLst>
              <a:ext uri="{FF2B5EF4-FFF2-40B4-BE49-F238E27FC236}">
                <a16:creationId xmlns:a16="http://schemas.microsoft.com/office/drawing/2014/main" id="{183792F7-AD44-E344-887B-1E9D39E46F5F}"/>
              </a:ext>
            </a:extLst>
          </p:cNvPr>
          <p:cNvPicPr>
            <a:picLocks noChangeAspect="1"/>
          </p:cNvPicPr>
          <p:nvPr/>
        </p:nvPicPr>
        <p:blipFill>
          <a:blip r:embed="rId3"/>
          <a:stretch>
            <a:fillRect/>
          </a:stretch>
        </p:blipFill>
        <p:spPr>
          <a:xfrm>
            <a:off x="8186046" y="2321280"/>
            <a:ext cx="1823694" cy="2082051"/>
          </a:xfrm>
          <a:prstGeom prst="rect">
            <a:avLst/>
          </a:prstGeom>
        </p:spPr>
      </p:pic>
    </p:spTree>
    <p:extLst>
      <p:ext uri="{BB962C8B-B14F-4D97-AF65-F5344CB8AC3E}">
        <p14:creationId xmlns:p14="http://schemas.microsoft.com/office/powerpoint/2010/main" val="3648511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77D40FA-1EE5-6942-8803-2F35349EE450}"/>
              </a:ext>
            </a:extLst>
          </p:cNvPr>
          <p:cNvSpPr/>
          <p:nvPr/>
        </p:nvSpPr>
        <p:spPr>
          <a:xfrm>
            <a:off x="-13063" y="-117565"/>
            <a:ext cx="12311080" cy="2297190"/>
          </a:xfrm>
          <a:prstGeom prst="rect">
            <a:avLst/>
          </a:prstGeom>
          <a:solidFill>
            <a:srgbClr val="2531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01EB59CA-4097-284B-807D-768A0A112C9F}"/>
              </a:ext>
            </a:extLst>
          </p:cNvPr>
          <p:cNvSpPr>
            <a:spLocks noGrp="1"/>
          </p:cNvSpPr>
          <p:nvPr>
            <p:ph type="sldNum" sz="quarter" idx="12"/>
          </p:nvPr>
        </p:nvSpPr>
        <p:spPr/>
        <p:txBody>
          <a:bodyPr/>
          <a:lstStyle/>
          <a:p>
            <a:fld id="{3A98EE3D-8CD1-4C3F-BD1C-C98C9596463C}" type="slidenum">
              <a:rPr lang="en-US" smtClean="0"/>
              <a:t>15</a:t>
            </a:fld>
            <a:endParaRPr lang="en-US" dirty="0"/>
          </a:p>
        </p:txBody>
      </p:sp>
      <p:sp>
        <p:nvSpPr>
          <p:cNvPr id="7" name="Subtitle 2">
            <a:extLst>
              <a:ext uri="{FF2B5EF4-FFF2-40B4-BE49-F238E27FC236}">
                <a16:creationId xmlns:a16="http://schemas.microsoft.com/office/drawing/2014/main" id="{D2886AE3-BEF3-174F-B122-C883F6027EA6}"/>
              </a:ext>
            </a:extLst>
          </p:cNvPr>
          <p:cNvSpPr txBox="1">
            <a:spLocks/>
          </p:cNvSpPr>
          <p:nvPr/>
        </p:nvSpPr>
        <p:spPr>
          <a:xfrm>
            <a:off x="1501612" y="313835"/>
            <a:ext cx="9188776" cy="1475382"/>
          </a:xfrm>
          <a:prstGeom prst="rect">
            <a:avLst/>
          </a:prstGeom>
        </p:spPr>
        <p:txBody>
          <a:bodyPr vert="horz" lIns="0" tIns="45720" rIns="0" bIns="45720" rtlCol="0" anchor="ctr">
            <a:no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spcBef>
                <a:spcPts val="600"/>
              </a:spcBef>
              <a:spcAft>
                <a:spcPts val="0"/>
              </a:spcAft>
            </a:pPr>
            <a:r>
              <a:rPr lang="en-US" sz="2200" b="1" dirty="0">
                <a:solidFill>
                  <a:schemeClr val="bg1"/>
                </a:solidFill>
                <a:latin typeface="Open Sans" panose="020B0606030504020204" pitchFamily="34" charset="0"/>
                <a:ea typeface="Open Sans" panose="020B0606030504020204" pitchFamily="34" charset="0"/>
                <a:cs typeface="Open Sans" panose="020B0606030504020204" pitchFamily="34" charset="0"/>
              </a:rPr>
              <a:t>The need for revenue growth today</a:t>
            </a:r>
          </a:p>
          <a:p>
            <a:pPr>
              <a:spcBef>
                <a:spcPts val="600"/>
              </a:spcBef>
              <a:spcAft>
                <a:spcPts val="0"/>
              </a:spcAft>
            </a:pP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The pandemic has exacerbated the income and education gap in the Bay Area. Scholarships provide support not only for students and families, but also for schools which are critical community centers.  Our 246 schools can accommodate 8,000 more Pre-K to 8</a:t>
            </a:r>
            <a:r>
              <a:rPr lang="en-US" sz="1600" baseline="30000" dirty="0">
                <a:solidFill>
                  <a:schemeClr val="bg1"/>
                </a:solidFill>
                <a:latin typeface="Open Sans" panose="020B0606030504020204" pitchFamily="34" charset="0"/>
                <a:ea typeface="Open Sans" panose="020B0606030504020204" pitchFamily="34" charset="0"/>
                <a:cs typeface="Open Sans" panose="020B0606030504020204" pitchFamily="34" charset="0"/>
              </a:rPr>
              <a:t>th</a:t>
            </a:r>
            <a:r>
              <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rPr>
              <a:t> grade students</a:t>
            </a:r>
            <a:endParaRPr lang="en-US" sz="1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6D87BA0A-AFC4-7C48-B25D-E885F449D835}"/>
              </a:ext>
            </a:extLst>
          </p:cNvPr>
          <p:cNvSpPr/>
          <p:nvPr/>
        </p:nvSpPr>
        <p:spPr>
          <a:xfrm>
            <a:off x="6146617" y="3430576"/>
            <a:ext cx="5236970" cy="1969770"/>
          </a:xfrm>
          <a:prstGeom prst="rect">
            <a:avLst/>
          </a:prstGeom>
        </p:spPr>
        <p:txBody>
          <a:bodyPr wrap="square">
            <a:spAutoFit/>
          </a:bodyPr>
          <a:lstStyle/>
          <a:p>
            <a:pPr>
              <a:spcBef>
                <a:spcPts val="600"/>
              </a:spcBef>
            </a:pPr>
            <a:r>
              <a:rPr lang="en-US" sz="16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Increase the number of students served</a:t>
            </a:r>
          </a:p>
          <a:p>
            <a:pPr>
              <a:spcBef>
                <a:spcPts val="600"/>
              </a:spcBef>
            </a:pPr>
            <a:r>
              <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rPr>
              <a:t>Scholarships were awarded in the fall of 2020 to 3,375 students, of which 819 were new students.</a:t>
            </a:r>
            <a:br>
              <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rPr>
            </a:br>
            <a:endPar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endParaRPr>
          </a:p>
          <a:p>
            <a:pPr>
              <a:spcBef>
                <a:spcPts val="600"/>
              </a:spcBef>
            </a:pPr>
            <a:r>
              <a:rPr lang="en-US" sz="1600" b="1" u="sng" dirty="0">
                <a:solidFill>
                  <a:srgbClr val="25316F"/>
                </a:solidFill>
                <a:latin typeface="Open Sans" panose="020B0606030504020204" pitchFamily="34" charset="0"/>
                <a:ea typeface="Open Sans" panose="020B0606030504020204" pitchFamily="34" charset="0"/>
                <a:cs typeface="Open Sans" panose="020B0606030504020204" pitchFamily="34" charset="0"/>
              </a:rPr>
              <a:t>Goal</a:t>
            </a:r>
            <a:r>
              <a:rPr lang="en-US" sz="16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rPr>
              <a:t>1,000 new students annually for a total number of scholarships to be over 3,500; increasing to 1,250 new students by 2025.</a:t>
            </a:r>
            <a:endParaRPr lang="en-US" sz="1600" dirty="0"/>
          </a:p>
        </p:txBody>
      </p:sp>
      <p:sp>
        <p:nvSpPr>
          <p:cNvPr id="9" name="Rectangle 8">
            <a:extLst>
              <a:ext uri="{FF2B5EF4-FFF2-40B4-BE49-F238E27FC236}">
                <a16:creationId xmlns:a16="http://schemas.microsoft.com/office/drawing/2014/main" id="{D3633DF3-E02D-C545-BEB9-633C590E2E09}"/>
              </a:ext>
            </a:extLst>
          </p:cNvPr>
          <p:cNvSpPr/>
          <p:nvPr/>
        </p:nvSpPr>
        <p:spPr>
          <a:xfrm>
            <a:off x="560342" y="3430576"/>
            <a:ext cx="5135403" cy="1723549"/>
          </a:xfrm>
          <a:prstGeom prst="rect">
            <a:avLst/>
          </a:prstGeom>
        </p:spPr>
        <p:txBody>
          <a:bodyPr wrap="square">
            <a:spAutoFit/>
          </a:bodyPr>
          <a:lstStyle/>
          <a:p>
            <a:pPr>
              <a:spcBef>
                <a:spcPts val="600"/>
              </a:spcBef>
            </a:pPr>
            <a:r>
              <a:rPr lang="en-US" sz="16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Increase the dollar amount of scholarships </a:t>
            </a:r>
          </a:p>
          <a:p>
            <a:pPr>
              <a:spcBef>
                <a:spcPts val="600"/>
              </a:spcBef>
            </a:pPr>
            <a:r>
              <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rPr>
              <a:t>Today the average scholarship per student is $1,788 which is 22% of the average yearly tuition of $7,980.</a:t>
            </a:r>
            <a:br>
              <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rPr>
            </a:br>
            <a:r>
              <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rPr>
              <a:t> </a:t>
            </a:r>
          </a:p>
          <a:p>
            <a:pPr>
              <a:spcBef>
                <a:spcPts val="600"/>
              </a:spcBef>
            </a:pPr>
            <a:r>
              <a:rPr lang="en-US" sz="1600" b="1" u="sng" dirty="0">
                <a:solidFill>
                  <a:srgbClr val="25316F"/>
                </a:solidFill>
                <a:latin typeface="Open Sans" panose="020B0606030504020204" pitchFamily="34" charset="0"/>
                <a:ea typeface="Open Sans" panose="020B0606030504020204" pitchFamily="34" charset="0"/>
                <a:cs typeface="Open Sans" panose="020B0606030504020204" pitchFamily="34" charset="0"/>
              </a:rPr>
              <a:t>Goal</a:t>
            </a:r>
            <a:r>
              <a:rPr lang="en-US" sz="16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5316F"/>
                </a:solidFill>
                <a:latin typeface="Open Sans" panose="020B0606030504020204" pitchFamily="34" charset="0"/>
                <a:ea typeface="Open Sans" panose="020B0606030504020204" pitchFamily="34" charset="0"/>
                <a:cs typeface="Open Sans" panose="020B0606030504020204" pitchFamily="34" charset="0"/>
              </a:rPr>
              <a:t>to award 33% of a student’s annual tuition, for an average scholarship per student goal of $2,633.</a:t>
            </a:r>
            <a:endParaRPr lang="en-US" sz="1600" dirty="0"/>
          </a:p>
        </p:txBody>
      </p:sp>
      <p:sp>
        <p:nvSpPr>
          <p:cNvPr id="10" name="Rectangle 9">
            <a:extLst>
              <a:ext uri="{FF2B5EF4-FFF2-40B4-BE49-F238E27FC236}">
                <a16:creationId xmlns:a16="http://schemas.microsoft.com/office/drawing/2014/main" id="{F6003E8B-85C0-3B4F-BD91-F075AA8340A1}"/>
              </a:ext>
            </a:extLst>
          </p:cNvPr>
          <p:cNvSpPr/>
          <p:nvPr/>
        </p:nvSpPr>
        <p:spPr>
          <a:xfrm>
            <a:off x="4137465" y="2795517"/>
            <a:ext cx="3116559" cy="430887"/>
          </a:xfrm>
          <a:prstGeom prst="rect">
            <a:avLst/>
          </a:prstGeom>
        </p:spPr>
        <p:txBody>
          <a:bodyPr wrap="none">
            <a:spAutoFit/>
          </a:bodyPr>
          <a:lstStyle/>
          <a:p>
            <a:r>
              <a:rPr lang="en-US" sz="22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Our near-term goals:</a:t>
            </a:r>
            <a:endParaRPr lang="en-US" sz="2200" dirty="0"/>
          </a:p>
        </p:txBody>
      </p:sp>
    </p:spTree>
    <p:extLst>
      <p:ext uri="{BB962C8B-B14F-4D97-AF65-F5344CB8AC3E}">
        <p14:creationId xmlns:p14="http://schemas.microsoft.com/office/powerpoint/2010/main" val="2270619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8266A8-10F6-D341-BCFD-BFA360D49F93}"/>
              </a:ext>
            </a:extLst>
          </p:cNvPr>
          <p:cNvSpPr>
            <a:spLocks noGrp="1"/>
          </p:cNvSpPr>
          <p:nvPr>
            <p:ph type="ftr" sz="quarter" idx="11"/>
          </p:nvPr>
        </p:nvSpPr>
        <p:spPr/>
        <p:txBody>
          <a:bodyPr/>
          <a:lstStyle/>
          <a:p>
            <a:r>
              <a:rPr lang="en-US" dirty="0"/>
              <a:t>The BASIC Fund is a privately funded 501(c)3 organization based in the San Francisco Bay Area.   </a:t>
            </a:r>
          </a:p>
        </p:txBody>
      </p:sp>
      <p:sp>
        <p:nvSpPr>
          <p:cNvPr id="3" name="Slide Number Placeholder 2">
            <a:extLst>
              <a:ext uri="{FF2B5EF4-FFF2-40B4-BE49-F238E27FC236}">
                <a16:creationId xmlns:a16="http://schemas.microsoft.com/office/drawing/2014/main" id="{7EEFFD86-0EF6-1D49-BD74-D55206C46C53}"/>
              </a:ext>
            </a:extLst>
          </p:cNvPr>
          <p:cNvSpPr>
            <a:spLocks noGrp="1"/>
          </p:cNvSpPr>
          <p:nvPr>
            <p:ph type="sldNum" sz="quarter" idx="12"/>
          </p:nvPr>
        </p:nvSpPr>
        <p:spPr/>
        <p:txBody>
          <a:bodyPr/>
          <a:lstStyle/>
          <a:p>
            <a:fld id="{3A98EE3D-8CD1-4C3F-BD1C-C98C9596463C}" type="slidenum">
              <a:rPr lang="en-US" smtClean="0"/>
              <a:t>16</a:t>
            </a:fld>
            <a:endParaRPr lang="en-US" dirty="0"/>
          </a:p>
        </p:txBody>
      </p:sp>
      <p:sp>
        <p:nvSpPr>
          <p:cNvPr id="7" name="Rectangle 6">
            <a:extLst>
              <a:ext uri="{FF2B5EF4-FFF2-40B4-BE49-F238E27FC236}">
                <a16:creationId xmlns:a16="http://schemas.microsoft.com/office/drawing/2014/main" id="{6F0B0101-BD1D-8543-BF8A-53684DF127AF}"/>
              </a:ext>
            </a:extLst>
          </p:cNvPr>
          <p:cNvSpPr/>
          <p:nvPr/>
        </p:nvSpPr>
        <p:spPr>
          <a:xfrm>
            <a:off x="4482738" y="3230438"/>
            <a:ext cx="3226524" cy="707886"/>
          </a:xfrm>
          <a:prstGeom prst="rect">
            <a:avLst/>
          </a:prstGeom>
        </p:spPr>
        <p:txBody>
          <a:bodyPr wrap="none">
            <a:spAutoFit/>
          </a:bodyPr>
          <a:lstStyle/>
          <a:p>
            <a:r>
              <a:rPr lang="en-US" sz="40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THANK YOU</a:t>
            </a:r>
            <a:endParaRPr lang="en-US" sz="4000" dirty="0"/>
          </a:p>
        </p:txBody>
      </p:sp>
      <p:sp>
        <p:nvSpPr>
          <p:cNvPr id="8" name="Rectangle 7">
            <a:extLst>
              <a:ext uri="{FF2B5EF4-FFF2-40B4-BE49-F238E27FC236}">
                <a16:creationId xmlns:a16="http://schemas.microsoft.com/office/drawing/2014/main" id="{44DE0D54-9A2A-064E-98E2-C4DA279F7010}"/>
              </a:ext>
            </a:extLst>
          </p:cNvPr>
          <p:cNvSpPr/>
          <p:nvPr/>
        </p:nvSpPr>
        <p:spPr>
          <a:xfrm>
            <a:off x="-13063" y="5610100"/>
            <a:ext cx="12205063" cy="12479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97DBAF4-0E08-264F-9738-5B8402213A7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195565" y="5736783"/>
            <a:ext cx="1069596" cy="1000180"/>
          </a:xfrm>
          <a:prstGeom prst="rect">
            <a:avLst/>
          </a:prstGeom>
          <a:noFill/>
          <a:ln>
            <a:noFill/>
          </a:ln>
        </p:spPr>
      </p:pic>
      <p:sp>
        <p:nvSpPr>
          <p:cNvPr id="10" name="Rectangle 9">
            <a:extLst>
              <a:ext uri="{FF2B5EF4-FFF2-40B4-BE49-F238E27FC236}">
                <a16:creationId xmlns:a16="http://schemas.microsoft.com/office/drawing/2014/main" id="{FD84D807-A572-FF41-BE39-30609B977FD1}"/>
              </a:ext>
            </a:extLst>
          </p:cNvPr>
          <p:cNvSpPr/>
          <p:nvPr/>
        </p:nvSpPr>
        <p:spPr>
          <a:xfrm>
            <a:off x="3340111" y="5972440"/>
            <a:ext cx="6267538" cy="523220"/>
          </a:xfrm>
          <a:prstGeom prst="rect">
            <a:avLst/>
          </a:prstGeom>
        </p:spPr>
        <p:txBody>
          <a:bodyPr wrap="square">
            <a:spAutoFit/>
          </a:bodyPr>
          <a:lstStyle/>
          <a:p>
            <a:r>
              <a:rPr lang="en-US" sz="1400" b="1" dirty="0">
                <a:solidFill>
                  <a:srgbClr val="25316F"/>
                </a:solidFill>
                <a:latin typeface="Open Sans" panose="020B0606030504020204" pitchFamily="34" charset="0"/>
                <a:ea typeface="Open Sans" panose="020B0606030504020204" pitchFamily="34" charset="0"/>
                <a:cs typeface="Open Sans" panose="020B0606030504020204" pitchFamily="34" charset="0"/>
              </a:rPr>
              <a:t>Looking for more information?  </a:t>
            </a: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Scan the QR code for a short video or use </a:t>
            </a:r>
            <a:r>
              <a:rPr lang="en-US" sz="1400" u="sng" dirty="0">
                <a:solidFill>
                  <a:srgbClr val="25316F"/>
                </a:solidFill>
                <a:latin typeface="Open Sans" panose="020B0606030504020204" pitchFamily="34" charset="0"/>
                <a:ea typeface="Open Sans" panose="020B0606030504020204" pitchFamily="34" charset="0"/>
                <a:cs typeface="Open Sans" panose="020B0606030504020204" pitchFamily="34" charset="0"/>
                <a:hlinkClick r:id="rId3">
                  <a:extLst>
                    <a:ext uri="{A12FA001-AC4F-418D-AE19-62706E023703}">
                      <ahyp:hlinkClr xmlns:ahyp="http://schemas.microsoft.com/office/drawing/2018/hyperlinkcolor" val="tx"/>
                    </a:ext>
                  </a:extLst>
                </a:hlinkClick>
              </a:rPr>
              <a:t>this link. </a:t>
            </a: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rPr>
              <a:t>Reach out anytime, and visit our website </a:t>
            </a:r>
            <a:r>
              <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hlinkClick r:id="rId4">
                  <a:extLst>
                    <a:ext uri="{A12FA001-AC4F-418D-AE19-62706E023703}">
                      <ahyp:hlinkClr xmlns:ahyp="http://schemas.microsoft.com/office/drawing/2018/hyperlinkcolor" val="tx"/>
                    </a:ext>
                  </a:extLst>
                </a:hlinkClick>
              </a:rPr>
              <a:t>www.basicfund.org</a:t>
            </a:r>
            <a:endParaRPr lang="en-US" sz="1400" dirty="0">
              <a:solidFill>
                <a:srgbClr val="25316F"/>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C5EDB263-9F6A-D647-A0EE-D6815AD3171C}"/>
              </a:ext>
            </a:extLst>
          </p:cNvPr>
          <p:cNvPicPr>
            <a:picLocks noChangeAspect="1"/>
          </p:cNvPicPr>
          <p:nvPr/>
        </p:nvPicPr>
        <p:blipFill>
          <a:blip r:embed="rId5"/>
          <a:stretch>
            <a:fillRect/>
          </a:stretch>
        </p:blipFill>
        <p:spPr>
          <a:xfrm>
            <a:off x="5569011" y="1970003"/>
            <a:ext cx="1040913" cy="1214398"/>
          </a:xfrm>
          <a:prstGeom prst="rect">
            <a:avLst/>
          </a:prstGeom>
        </p:spPr>
      </p:pic>
    </p:spTree>
    <p:extLst>
      <p:ext uri="{BB962C8B-B14F-4D97-AF65-F5344CB8AC3E}">
        <p14:creationId xmlns:p14="http://schemas.microsoft.com/office/powerpoint/2010/main" val="2213525714"/>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A0A9C56CED7EA45AEA67FDECA12BBF5" ma:contentTypeVersion="10" ma:contentTypeDescription="Create a new document." ma:contentTypeScope="" ma:versionID="c82293a200b94d964c8a90ca3b3fbadf">
  <xsd:schema xmlns:xsd="http://www.w3.org/2001/XMLSchema" xmlns:xs="http://www.w3.org/2001/XMLSchema" xmlns:p="http://schemas.microsoft.com/office/2006/metadata/properties" xmlns:ns3="52b942d9-59c0-4f1e-8682-92d9771a963e" targetNamespace="http://schemas.microsoft.com/office/2006/metadata/properties" ma:root="true" ma:fieldsID="370760f30e0c579d66b2116932f34123" ns3:_="">
    <xsd:import namespace="52b942d9-59c0-4f1e-8682-92d9771a963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b942d9-59c0-4f1e-8682-92d9771a96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780DFE5-1BBE-471E-A78E-B270279C5C16}">
  <ds:schemaRefs>
    <ds:schemaRef ds:uri="http://www.w3.org/XML/1998/namespace"/>
    <ds:schemaRef ds:uri="http://schemas.microsoft.com/office/infopath/2007/PartnerControls"/>
    <ds:schemaRef ds:uri="http://schemas.microsoft.com/office/2006/documentManagement/types"/>
    <ds:schemaRef ds:uri="http://schemas.openxmlformats.org/package/2006/metadata/core-properties"/>
    <ds:schemaRef ds:uri="http://purl.org/dc/elements/1.1/"/>
    <ds:schemaRef ds:uri="52b942d9-59c0-4f1e-8682-92d9771a963e"/>
    <ds:schemaRef ds:uri="http://schemas.microsoft.com/office/2006/metadata/properties"/>
    <ds:schemaRef ds:uri="http://purl.org/dc/dcmitype/"/>
    <ds:schemaRef ds:uri="http://purl.org/dc/terms/"/>
  </ds:schemaRefs>
</ds:datastoreItem>
</file>

<file path=customXml/itemProps2.xml><?xml version="1.0" encoding="utf-8"?>
<ds:datastoreItem xmlns:ds="http://schemas.openxmlformats.org/officeDocument/2006/customXml" ds:itemID="{65B06516-E25D-43E6-8E1C-2C9DABD87182}">
  <ds:schemaRefs>
    <ds:schemaRef ds:uri="http://schemas.microsoft.com/sharepoint/v3/contenttype/forms"/>
  </ds:schemaRefs>
</ds:datastoreItem>
</file>

<file path=customXml/itemProps3.xml><?xml version="1.0" encoding="utf-8"?>
<ds:datastoreItem xmlns:ds="http://schemas.openxmlformats.org/officeDocument/2006/customXml" ds:itemID="{8E52CFEA-1D31-43E2-99BA-4909995487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b942d9-59c0-4f1e-8682-92d9771a96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9511</TotalTime>
  <Words>1243</Words>
  <Application>Microsoft Macintosh PowerPoint</Application>
  <PresentationFormat>Widescreen</PresentationFormat>
  <Paragraphs>82</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Open Sans</vt:lpstr>
      <vt:lpstr>RetrospectVTI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Rachel Elginsmith</dc:creator>
  <cp:lastModifiedBy>joseph fioramonti</cp:lastModifiedBy>
  <cp:revision>97</cp:revision>
  <cp:lastPrinted>2021-01-13T00:29:14Z</cp:lastPrinted>
  <dcterms:created xsi:type="dcterms:W3CDTF">2021-01-07T04:51:24Z</dcterms:created>
  <dcterms:modified xsi:type="dcterms:W3CDTF">2021-07-06T18:50:15Z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0x010100BA0A9C56CED7EA45AEA67FDECA12BBF5</vt:lpwstr>
  </property>
</Properties>
</file>